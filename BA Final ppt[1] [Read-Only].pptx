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59" r:id="rId1"/>
  </p:sldMasterIdLst>
  <p:notesMasterIdLst>
    <p:notesMasterId r:id="rId30"/>
  </p:notesMasterIdLst>
  <p:sldIdLst>
    <p:sldId id="966" r:id="rId2"/>
    <p:sldId id="1020" r:id="rId3"/>
    <p:sldId id="1026" r:id="rId4"/>
    <p:sldId id="1045" r:id="rId5"/>
    <p:sldId id="1023" r:id="rId6"/>
    <p:sldId id="1029" r:id="rId7"/>
    <p:sldId id="1035" r:id="rId8"/>
    <p:sldId id="1024" r:id="rId9"/>
    <p:sldId id="1036" r:id="rId10"/>
    <p:sldId id="1027" r:id="rId11"/>
    <p:sldId id="1031" r:id="rId12"/>
    <p:sldId id="1051" r:id="rId13"/>
    <p:sldId id="1052" r:id="rId14"/>
    <p:sldId id="1042" r:id="rId15"/>
    <p:sldId id="1043" r:id="rId16"/>
    <p:sldId id="1044" r:id="rId17"/>
    <p:sldId id="1037" r:id="rId18"/>
    <p:sldId id="1038" r:id="rId19"/>
    <p:sldId id="1053" r:id="rId20"/>
    <p:sldId id="1039" r:id="rId21"/>
    <p:sldId id="1040" r:id="rId22"/>
    <p:sldId id="1041" r:id="rId23"/>
    <p:sldId id="1046" r:id="rId24"/>
    <p:sldId id="1047" r:id="rId25"/>
    <p:sldId id="1028" r:id="rId26"/>
    <p:sldId id="1054" r:id="rId27"/>
    <p:sldId id="1055" r:id="rId28"/>
    <p:sldId id="1008" r:id="rId2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1pPr>
    <a:lvl2pPr marL="0" marR="0" indent="4572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2pPr>
    <a:lvl3pPr marL="0" marR="0" indent="9144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3pPr>
    <a:lvl4pPr marL="0" marR="0" indent="13716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4pPr>
    <a:lvl5pPr marL="0" marR="0" indent="18288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02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A5DE46-3846-096C-4D3A-43D10D40EE47}" v="903" dt="2025-11-25T09:36:10.883"/>
    <p1510:client id="{15610202-05D8-7197-456D-548426919EE6}" v="352" dt="2025-11-27T06:42:23.500"/>
    <p1510:client id="{1E563E0B-6F77-FE8F-E14A-39528D99E968}" v="350" dt="2025-11-27T04:33:56.287"/>
    <p1510:client id="{204CD8D1-55BA-6046-31AA-7DC0410CBAF8}" v="2" dt="2025-11-27T05:23:25.643"/>
    <p1510:client id="{89F4EDE4-86BF-C3AF-1CD2-3371BBB2D737}" v="19" dt="2025-11-27T05:10:22.371"/>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340"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6" name="Shape 126"/>
          <p:cNvSpPr>
            <a:spLocks noGrp="1" noRot="1" noChangeAspect="1"/>
          </p:cNvSpPr>
          <p:nvPr>
            <p:ph type="sldImg"/>
          </p:nvPr>
        </p:nvSpPr>
        <p:spPr>
          <a:xfrm>
            <a:off x="381000" y="685800"/>
            <a:ext cx="6096000" cy="3429000"/>
          </a:xfrm>
          <a:prstGeom prst="rect">
            <a:avLst/>
          </a:prstGeom>
        </p:spPr>
        <p:txBody>
          <a:bodyPr/>
          <a:lstStyle/>
          <a:p>
            <a:endParaRPr/>
          </a:p>
        </p:txBody>
      </p:sp>
      <p:sp>
        <p:nvSpPr>
          <p:cNvPr id="127" name="Shape 12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7739982"/>
      </p:ext>
    </p:extLst>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Arial"/>
      </a:defRPr>
    </a:lvl1pPr>
    <a:lvl2pPr indent="228600" latinLnBrk="0">
      <a:spcBef>
        <a:spcPts val="400"/>
      </a:spcBef>
      <a:defRPr sz="1200">
        <a:latin typeface="+mn-lt"/>
        <a:ea typeface="+mn-ea"/>
        <a:cs typeface="+mn-cs"/>
        <a:sym typeface="Arial"/>
      </a:defRPr>
    </a:lvl2pPr>
    <a:lvl3pPr indent="457200" latinLnBrk="0">
      <a:spcBef>
        <a:spcPts val="400"/>
      </a:spcBef>
      <a:defRPr sz="1200">
        <a:latin typeface="+mn-lt"/>
        <a:ea typeface="+mn-ea"/>
        <a:cs typeface="+mn-cs"/>
        <a:sym typeface="Arial"/>
      </a:defRPr>
    </a:lvl3pPr>
    <a:lvl4pPr indent="685800" latinLnBrk="0">
      <a:spcBef>
        <a:spcPts val="400"/>
      </a:spcBef>
      <a:defRPr sz="1200">
        <a:latin typeface="+mn-lt"/>
        <a:ea typeface="+mn-ea"/>
        <a:cs typeface="+mn-cs"/>
        <a:sym typeface="Arial"/>
      </a:defRPr>
    </a:lvl4pPr>
    <a:lvl5pPr indent="914400" latinLnBrk="0">
      <a:spcBef>
        <a:spcPts val="400"/>
      </a:spcBef>
      <a:defRPr sz="1200">
        <a:latin typeface="+mn-lt"/>
        <a:ea typeface="+mn-ea"/>
        <a:cs typeface="+mn-cs"/>
        <a:sym typeface="Arial"/>
      </a:defRPr>
    </a:lvl5pPr>
    <a:lvl6pPr indent="1143000" latinLnBrk="0">
      <a:spcBef>
        <a:spcPts val="400"/>
      </a:spcBef>
      <a:defRPr sz="1200">
        <a:latin typeface="+mn-lt"/>
        <a:ea typeface="+mn-ea"/>
        <a:cs typeface="+mn-cs"/>
        <a:sym typeface="Arial"/>
      </a:defRPr>
    </a:lvl6pPr>
    <a:lvl7pPr indent="1371600" latinLnBrk="0">
      <a:spcBef>
        <a:spcPts val="400"/>
      </a:spcBef>
      <a:defRPr sz="1200">
        <a:latin typeface="+mn-lt"/>
        <a:ea typeface="+mn-ea"/>
        <a:cs typeface="+mn-cs"/>
        <a:sym typeface="Arial"/>
      </a:defRPr>
    </a:lvl7pPr>
    <a:lvl8pPr indent="1600200" latinLnBrk="0">
      <a:spcBef>
        <a:spcPts val="400"/>
      </a:spcBef>
      <a:defRPr sz="1200">
        <a:latin typeface="+mn-lt"/>
        <a:ea typeface="+mn-ea"/>
        <a:cs typeface="+mn-cs"/>
        <a:sym typeface="Arial"/>
      </a:defRPr>
    </a:lvl8pPr>
    <a:lvl9pPr indent="1828800" latinLnBrk="0">
      <a:spcBef>
        <a:spcPts val="400"/>
      </a:spcBef>
      <a:defRPr sz="12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8371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7011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F6C7-1EB0-FF04-552C-6EC8F68A5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A702E0-1C08-E26B-E6DE-780A5218063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08A9BB1-B3F7-DEDB-4569-ADFD7D87B62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3DEE7FB-B4E8-F770-9ED1-A63EE43956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4148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98FB5-74CC-0211-BEB0-ED35B88E4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9279AA-2992-8B2F-286E-9A21C9E9157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B3DE520-2143-9B75-3AFC-C7CDF335AB8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80FA1E7-4362-E0EA-E260-7E33250B68C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2034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3669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08A50-3FA0-A11E-8DD9-4D2E92E7A7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996FE-7D55-CD7E-0006-A193D964446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855566D-03EA-9FAE-E6A6-CA8774D579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67FDB12-2630-3423-D539-7A6F40B656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05401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FD906-D1C6-7A49-FCCD-2093D1840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53726-23A6-F32C-DD12-70672162655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9DEEE4C-9BF7-D0F4-4CC8-9BDBDA2D82A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40C46C0-8518-58C5-B4E7-A9FEC96C0F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7026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1143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D4EF4-CA04-6413-9497-C1B2BA6748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602B8-A90F-130C-E74C-642FB2B77E3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3A1D0CF-95BA-D61E-E5F1-504D0790423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841E78C-8C49-1D5D-A637-C1B3093FFB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1428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3C678-40CD-A006-9455-F0741626CF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FA65DA-75EE-D2F2-08E4-1FAFD46D307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2FE7D08-1E3A-3AFE-A5B8-BD9D146AA7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E5689EB-5D68-12CC-D82D-98A7D3125B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98344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D88B1-FE2D-309C-F26F-217FAA5B2E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43D318-2B0A-5C20-A1C5-DD3F1C2FD7D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9CAADE1-F120-F626-3ABC-E215F38A3D6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9AA1AB2-0D21-E10F-DED6-9BA8C84E0D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9671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ADB36-2550-7657-3D79-0DA0F67E3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05596-10E5-4364-EDA1-298EFDFFE00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51674ED-032E-A1CA-0B1C-51C87ACA0D6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058FA5-5F8E-4287-8257-C68BC6A495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60144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3B9A9-C86E-E3EE-3BA3-C943D06F3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E44810-C01E-1C8B-52F9-3B2481D2639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2B3A2E0-C63A-1C5D-08DB-6EC64FEC59D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544B539-5989-9C90-6043-BEE1760B0B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7465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0F22C-CD34-C6C1-5EF3-C580C686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E42C1-3FCB-B9EC-4888-0272E78CF25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035FADB-E064-6658-AC74-541DE55089C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4CD1942-A714-4F6F-5671-D19F13F89E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13292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50B18-CA8E-1170-C987-209D910B34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8CBA9E-098F-1EF5-BA91-3762D976A93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8347A17-BBE9-FDDE-E173-A08C44573C8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9A6F1CC-E4DF-C0B9-5871-6D4B026F92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0869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D3D2F-A4F3-741E-3AD4-18F932993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AA8E35-86B9-0D62-F22F-ABF8066C073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926B1A3-F22F-D454-55F8-C10CBE4569C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B74BC7B-BD02-E994-1CF1-78A9CE5911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7327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5AA8A-E91E-2319-88A7-88F68554D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3BA28-18BC-C9EA-186A-E105E57114A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9FF715D-BF8A-2E53-57DD-F711A867031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63C098-53C8-7F65-FB77-DCAB912B4E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7267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B8030-1387-EC60-49F6-54D3EB3C2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FFEF2-4DE3-E070-E249-98FA334DCCB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4C13EE3-4CA6-3BA7-A952-8B90474BD40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3ADDA95-A4DB-E376-B092-1674383860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812402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82B9A-BE43-EE00-1264-F5D76994CF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6AADC8-B227-355B-77B0-787E1D6D2BA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8398576-E619-A4AB-D514-D49EE386916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E59C96-1DB3-B428-2715-1D944326C8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85673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C5C2E-201C-2511-42EF-F9E1A07C2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49335-ECBB-79B6-DDB2-CD4C9FB7634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4BE9C70-CF5A-ED9C-AAC8-A4C1A26C8C1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82BFA1B-AC4C-13B4-E4B7-8F3D3763D5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9446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B833D-99AB-D302-FDA7-415E902086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DAB510-DE87-446B-DD90-42B3FE633F5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D17BC9F-7FC6-D7B8-A412-A5DBE18B838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FAE0301-599B-E4FB-8569-71DF9A32F6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52979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483CA-95F4-A6EB-9AD5-3AE887BC2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B977F-38B9-C76F-7CD8-7A9AA0D1C5B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18B307D-F8C3-91EE-30A8-3E05D839EDA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9AE8A66-7529-EC9A-C0B8-2BB5984BFA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78763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60414-73A6-8D90-D885-C4FE5D8110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F278D-6252-AE56-77B9-0B5630338D5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F29AEA5-2D42-B250-C5BB-88F0D04153A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DF4D696-0327-78DC-7625-41D305239C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2518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D20E8-5083-C51E-B5F4-6F314EB17F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95E04-CEE3-B7E0-7DD8-9F4728BCEB7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F6B54CA-5FC8-5E42-C8FD-FF38A6103F1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9FC03A7-4D9F-85C6-E36B-7848CF4A4D5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52709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3EBC4-1AC8-0EDC-B1D7-47AFD3AE8D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DAC66-793F-E088-1152-0BBF8228E8F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401F6A1-3718-C933-6B12-A1F37881A93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67E01F5-75A3-B1F4-0F0C-7290119F812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56341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099FF-5846-C575-885C-A4635630FE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DA024-1259-21F2-3B9F-E0909ADBD47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AFF7D96-906D-2A15-D9F6-03898672E02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DD2238A-7666-F344-E20F-DEAAFE7B90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49705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AB8C8-86F6-D990-9F6D-87696D60D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731BFD-972B-6EEB-00F2-D40001C8162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B4B701F-DAD6-71A2-75CB-F029F278146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13D308C-646A-86E5-EFC3-7687D9E0570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6439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8401C-3D73-9145-9D27-022775352CD7}"/>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C98FC3C5-2E28-584B-9E08-C350F04738FA}"/>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3E1AA21-1AC4-EE4A-9EE6-2CF249667C7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B026A89-F6F6-594C-B1D8-D2FE52E181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25ABD8-565B-E441-A71D-873F53B630F7}"/>
              </a:ext>
            </a:extLst>
          </p:cNvPr>
          <p:cNvSpPr>
            <a:spLocks noGrp="1"/>
          </p:cNvSpPr>
          <p:nvPr>
            <p:ph type="sldNum" sz="quarter" idx="12"/>
          </p:nvPr>
        </p:nvSpPr>
        <p:spPr/>
        <p:txBody>
          <a:bodyPr/>
          <a:lstStyle/>
          <a:p>
            <a:fld id="{71766878-3199-4EAB-94E7-2D6D11070E14}" type="slidenum">
              <a:rPr lang="en-US" smtClean="0"/>
              <a:pPr/>
              <a:t>‹#›</a:t>
            </a:fld>
            <a:endParaRPr lang="en-US"/>
          </a:p>
        </p:txBody>
      </p:sp>
    </p:spTree>
    <p:extLst>
      <p:ext uri="{BB962C8B-B14F-4D97-AF65-F5344CB8AC3E}">
        <p14:creationId xmlns:p14="http://schemas.microsoft.com/office/powerpoint/2010/main" val="3474907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341197" y="1137256"/>
            <a:ext cx="11436823"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341197" y="348665"/>
            <a:ext cx="11436823" cy="421441"/>
          </a:xfrm>
        </p:spPr>
        <p:txBody>
          <a:bodyPr>
            <a:noAutofit/>
          </a:bodyPr>
          <a:lstStyle>
            <a:lvl1pPr>
              <a:defRPr sz="2400" b="0">
                <a:solidFill>
                  <a:srgbClr val="A4123F"/>
                </a:solidFill>
                <a:latin typeface="Georgia" panose="02040502050405020303" pitchFamily="18" charset="0"/>
              </a:defRPr>
            </a:lvl1pPr>
          </a:lstStyle>
          <a:p>
            <a:r>
              <a:rPr lang="en-US"/>
              <a:t>Click Here To Edit Title</a:t>
            </a:r>
            <a:endParaRPr lang="en-IN"/>
          </a:p>
        </p:txBody>
      </p:sp>
      <p:pic>
        <p:nvPicPr>
          <p:cNvPr id="8" name="Picture 7">
            <a:extLst>
              <a:ext uri="{FF2B5EF4-FFF2-40B4-BE49-F238E27FC236}">
                <a16:creationId xmlns:a16="http://schemas.microsoft.com/office/drawing/2014/main" id="{140DA784-0993-4F43-BA98-733CB6486E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89" y="6412495"/>
            <a:ext cx="12218977" cy="478447"/>
          </a:xfrm>
          <a:prstGeom prst="rect">
            <a:avLst/>
          </a:prstGeom>
        </p:spPr>
      </p:pic>
      <p:pic>
        <p:nvPicPr>
          <p:cNvPr id="9" name="Picture 8">
            <a:extLst>
              <a:ext uri="{FF2B5EF4-FFF2-40B4-BE49-F238E27FC236}">
                <a16:creationId xmlns:a16="http://schemas.microsoft.com/office/drawing/2014/main" id="{0AD13F47-3531-4371-B8DB-59E457D073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45255" y="6520072"/>
            <a:ext cx="1262820" cy="283912"/>
          </a:xfrm>
          <a:prstGeom prst="rect">
            <a:avLst/>
          </a:prstGeom>
        </p:spPr>
      </p:pic>
      <p:sp>
        <p:nvSpPr>
          <p:cNvPr id="6" name="Slide Number Placeholder 5">
            <a:extLst>
              <a:ext uri="{FF2B5EF4-FFF2-40B4-BE49-F238E27FC236}">
                <a16:creationId xmlns:a16="http://schemas.microsoft.com/office/drawing/2014/main" id="{8325ABD8-565B-E441-A71D-873F53B630F7}"/>
              </a:ext>
            </a:extLst>
          </p:cNvPr>
          <p:cNvSpPr>
            <a:spLocks noGrp="1"/>
          </p:cNvSpPr>
          <p:nvPr>
            <p:ph type="sldNum" sz="quarter" idx="12"/>
          </p:nvPr>
        </p:nvSpPr>
        <p:spPr>
          <a:xfrm>
            <a:off x="115959" y="6478755"/>
            <a:ext cx="758687" cy="365125"/>
          </a:xfrm>
        </p:spPr>
        <p:txBody>
          <a:bodyPr/>
          <a:lstStyle>
            <a:lvl1pPr>
              <a:defRPr sz="1200">
                <a:solidFill>
                  <a:schemeClr val="bg1"/>
                </a:solidFill>
              </a:defRPr>
            </a:lvl1pPr>
          </a:lstStyle>
          <a:p>
            <a:fld id="{71766878-3199-4EAB-94E7-2D6D11070E14}" type="slidenum">
              <a:rPr lang="en-US" smtClean="0"/>
              <a:pPr/>
              <a:t>‹#›</a:t>
            </a:fld>
            <a:endParaRPr lang="en-US"/>
          </a:p>
        </p:txBody>
      </p:sp>
    </p:spTree>
    <p:extLst>
      <p:ext uri="{BB962C8B-B14F-4D97-AF65-F5344CB8AC3E}">
        <p14:creationId xmlns:p14="http://schemas.microsoft.com/office/powerpoint/2010/main" val="3786509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0" name="Title Text"/>
          <p:cNvSpPr txBox="1">
            <a:spLocks noGrp="1"/>
          </p:cNvSpPr>
          <p:nvPr>
            <p:ph type="title"/>
          </p:nvPr>
        </p:nvSpPr>
        <p:spPr>
          <a:prstGeom prst="rect">
            <a:avLst/>
          </a:prstGeom>
        </p:spPr>
        <p:txBody>
          <a:bodyPr/>
          <a:lstStyle/>
          <a:p>
            <a:r>
              <a:t>Title Text</a:t>
            </a:r>
          </a:p>
        </p:txBody>
      </p:sp>
    </p:spTree>
    <p:extLst>
      <p:ext uri="{BB962C8B-B14F-4D97-AF65-F5344CB8AC3E}">
        <p14:creationId xmlns:p14="http://schemas.microsoft.com/office/powerpoint/2010/main" val="1296783849"/>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1015E1-575C-CC43-8E0C-38A94C0D07B1}"/>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D70D65-9225-7C42-BE9D-7E7ACD2302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BD5A4A-C107-8941-A91D-265C67035296}"/>
              </a:ext>
            </a:extLst>
          </p:cNvPr>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79748F1F-AA4B-E44F-87CA-30B4D3D4B1A6}"/>
              </a:ext>
            </a:extLst>
          </p:cNvPr>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F76259-99F7-DF4A-8A42-0737A8CCEBF7}"/>
              </a:ext>
            </a:extLst>
          </p:cNvPr>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1766878-3199-4EAB-94E7-2D6D11070E14}" type="slidenum">
              <a:rPr lang="en-US" smtClean="0"/>
              <a:pPr/>
              <a:t>‹#›</a:t>
            </a:fld>
            <a:endParaRPr lang="en-US"/>
          </a:p>
        </p:txBody>
      </p:sp>
    </p:spTree>
    <p:extLst>
      <p:ext uri="{BB962C8B-B14F-4D97-AF65-F5344CB8AC3E}">
        <p14:creationId xmlns:p14="http://schemas.microsoft.com/office/powerpoint/2010/main" val="2034448342"/>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3" r:id="rId3"/>
  </p:sldLayoutIdLst>
  <p:hf hdr="0" ftr="0" dt="0"/>
  <p:txStyles>
    <p:titleStyle>
      <a:lvl1pPr algn="l" defTabSz="685800" rtl="0" eaLnBrk="1" latinLnBrk="0" hangingPunct="1">
        <a:lnSpc>
          <a:spcPct val="90000"/>
        </a:lnSpc>
        <a:spcBef>
          <a:spcPct val="0"/>
        </a:spcBef>
        <a:buNone/>
        <a:defRPr sz="3000" kern="1200">
          <a:solidFill>
            <a:schemeClr val="tx1"/>
          </a:solidFill>
          <a:latin typeface="Georgia" panose="02040502050405020303" pitchFamily="18"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sciencedirect.com/science/"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s://computingonline.net/computing/article/view/3873"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437735" y="376639"/>
            <a:ext cx="8577617" cy="316081"/>
          </a:xfrm>
        </p:spPr>
        <p:txBody>
          <a:bodyPr/>
          <a:lstStyle/>
          <a:p>
            <a:pPr algn="ctr"/>
            <a:r>
              <a:rPr lang="en-US" sz="2800">
                <a:solidFill>
                  <a:srgbClr val="FF0000"/>
                </a:solidFill>
                <a:latin typeface="Georgia"/>
                <a:cs typeface="Times New Roman"/>
              </a:rPr>
              <a:t>Introduction</a:t>
            </a:r>
            <a:endParaRPr lang="en-IN" sz="2800">
              <a:solidFill>
                <a:srgbClr val="FF0000"/>
              </a:solidFill>
              <a:latin typeface="Georgia"/>
              <a:cs typeface="Times New Roman"/>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a:t>
            </a:fld>
            <a:endParaRPr lang="en-US" kern="1200">
              <a:solidFill>
                <a:prstClr val="white"/>
              </a:solidFill>
              <a:latin typeface="Calibri"/>
              <a:ea typeface="+mn-ea"/>
              <a:cs typeface="+mn-cs"/>
            </a:endParaRPr>
          </a:p>
        </p:txBody>
      </p:sp>
      <p:sp>
        <p:nvSpPr>
          <p:cNvPr id="6" name="TextBox 5">
            <a:extLst>
              <a:ext uri="{FF2B5EF4-FFF2-40B4-BE49-F238E27FC236}">
                <a16:creationId xmlns:a16="http://schemas.microsoft.com/office/drawing/2014/main" id="{5EF08118-0A9E-80BF-4068-C4959659E569}"/>
              </a:ext>
            </a:extLst>
          </p:cNvPr>
          <p:cNvSpPr txBox="1"/>
          <p:nvPr/>
        </p:nvSpPr>
        <p:spPr>
          <a:xfrm>
            <a:off x="874517" y="798086"/>
            <a:ext cx="10143844"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      In the modern digital economy, streaming platforms compete intensely to acquire and retain subscribers, as user engagement, content consumption, and subscription continuity directly drive business sustainability. Netflix represents one of the most prominent examples of a platform where customer churn—i.e., users cancelling or discontinuing their subscription—poses a critical business concern. Churn is influenced by a complex interplay of behavioral, experiential, and contextual factors such as declining engagement, unsatisfactory recommendations, competing platforms, and changing preferences. Understanding not just who churns but why they churn enables proactive intervention strategies that safeguard revenue and user loyalty. This project leverages advanced data preprocessing, machine learning, and clustering techniques to build a predictive and explainable churn analytics framework capable of identifying at-risk users, uncovering behavioral patterns, and recommending retention strategies tailored to user segments.</a:t>
            </a:r>
            <a:endParaRPr lang="en-US"/>
          </a:p>
        </p:txBody>
      </p:sp>
    </p:spTree>
    <p:extLst>
      <p:ext uri="{BB962C8B-B14F-4D97-AF65-F5344CB8AC3E}">
        <p14:creationId xmlns:p14="http://schemas.microsoft.com/office/powerpoint/2010/main" val="29162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691735" y="607549"/>
            <a:ext cx="8577617" cy="316081"/>
          </a:xfrm>
        </p:spPr>
        <p:txBody>
          <a:bodyPr/>
          <a:lstStyle/>
          <a:p>
            <a:pPr algn="ctr"/>
            <a:r>
              <a:rPr lang="en-US" sz="2800">
                <a:solidFill>
                  <a:srgbClr val="FF0000"/>
                </a:solidFill>
                <a:latin typeface="Georgia"/>
                <a:cs typeface="Times New Roman"/>
              </a:rPr>
              <a:t>Problem Statement</a:t>
            </a:r>
            <a:endParaRPr lang="en-IN" sz="2800">
              <a:solidFill>
                <a:srgbClr val="FF0000"/>
              </a:solidFill>
              <a:latin typeface="Georgia"/>
              <a:cs typeface="Times New Roman"/>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DA83FBD5-DE13-5589-7F73-92F0E13431E3}"/>
              </a:ext>
            </a:extLst>
          </p:cNvPr>
          <p:cNvSpPr txBox="1"/>
          <p:nvPr/>
        </p:nvSpPr>
        <p:spPr>
          <a:xfrm>
            <a:off x="1227598" y="1324514"/>
            <a:ext cx="9804639" cy="47397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AutoNum type="arabicPeriod"/>
            </a:pPr>
            <a:r>
              <a:rPr lang="en-US" sz="2400"/>
              <a:t>Customer churn results in significant revenue loss, reduced user base, and long-term decline in platform growth.</a:t>
            </a:r>
          </a:p>
          <a:p>
            <a:pPr marL="457200" indent="-457200">
              <a:buAutoNum type="arabicPeriod"/>
            </a:pPr>
            <a:r>
              <a:rPr lang="en-US" sz="2400"/>
              <a:t>User disengagement and dissatisfaction are difficult to detect early, because behavior patterns vary across users.</a:t>
            </a:r>
          </a:p>
          <a:p>
            <a:pPr marL="457200" indent="-457200">
              <a:buAutoNum type="arabicPeriod"/>
            </a:pPr>
            <a:r>
              <a:rPr lang="en-US" sz="2400"/>
              <a:t>Existing churn approaches are reactive, identifying users only after long inactivity or subscription cancellation.</a:t>
            </a:r>
          </a:p>
          <a:p>
            <a:pPr marL="457200" indent="-457200">
              <a:buAutoNum type="arabicPeriod"/>
            </a:pPr>
            <a:r>
              <a:rPr lang="en-US" sz="2400"/>
              <a:t>Behavioral signals are scattered across multiple data sources (watch history, ratings, recommendations, searches), making churn prediction challenging.</a:t>
            </a:r>
          </a:p>
          <a:p>
            <a:pPr marL="457200" indent="-457200">
              <a:buFontTx/>
              <a:buAutoNum type="arabicPeriod"/>
            </a:pPr>
            <a:r>
              <a:rPr lang="en-US" sz="2400"/>
              <a:t>Lack of targeted segmentation leads to generic retention strategies, which fail to address high-value customers at risk.</a:t>
            </a:r>
          </a:p>
          <a:p>
            <a:endParaRPr lang="en-US" sz="2400"/>
          </a:p>
          <a:p>
            <a:endParaRPr lang="en-US"/>
          </a:p>
        </p:txBody>
      </p:sp>
    </p:spTree>
    <p:extLst>
      <p:ext uri="{BB962C8B-B14F-4D97-AF65-F5344CB8AC3E}">
        <p14:creationId xmlns:p14="http://schemas.microsoft.com/office/powerpoint/2010/main" val="3500239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53F4F-1022-773A-0627-38963DD8D4A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42D9A2-DC2E-6D46-105A-389DE681C2F2}"/>
              </a:ext>
            </a:extLst>
          </p:cNvPr>
          <p:cNvSpPr>
            <a:spLocks noGrp="1"/>
          </p:cNvSpPr>
          <p:nvPr>
            <p:ph type="title"/>
          </p:nvPr>
        </p:nvSpPr>
        <p:spPr>
          <a:xfrm>
            <a:off x="1691735" y="607549"/>
            <a:ext cx="8577617" cy="316081"/>
          </a:xfrm>
        </p:spPr>
        <p:txBody>
          <a:bodyPr/>
          <a:lstStyle/>
          <a:p>
            <a:pPr algn="ctr"/>
            <a:r>
              <a:rPr lang="en-US" sz="2800">
                <a:solidFill>
                  <a:srgbClr val="FF0000"/>
                </a:solidFill>
                <a:latin typeface="Georgia"/>
                <a:cs typeface="Times New Roman"/>
              </a:rPr>
              <a:t>Objectives</a:t>
            </a:r>
          </a:p>
        </p:txBody>
      </p:sp>
      <p:sp>
        <p:nvSpPr>
          <p:cNvPr id="4" name="Slide Number Placeholder 3">
            <a:extLst>
              <a:ext uri="{FF2B5EF4-FFF2-40B4-BE49-F238E27FC236}">
                <a16:creationId xmlns:a16="http://schemas.microsoft.com/office/drawing/2014/main" id="{2A288E90-9246-65F6-C051-A2ECD540F4B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3</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5D575E6F-5FF4-558D-73DC-02B66B0D0CF7}"/>
              </a:ext>
            </a:extLst>
          </p:cNvPr>
          <p:cNvSpPr txBox="1"/>
          <p:nvPr/>
        </p:nvSpPr>
        <p:spPr>
          <a:xfrm>
            <a:off x="1227598" y="1324514"/>
            <a:ext cx="9804639"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AutoNum type="arabicPeriod"/>
            </a:pPr>
            <a:r>
              <a:rPr lang="en-US" sz="2400"/>
              <a:t>To preprocess and clean multi-source user data to ensure accuracy, consistency, and readiness for analysis.</a:t>
            </a:r>
          </a:p>
          <a:p>
            <a:pPr marL="457200" indent="-457200">
              <a:buAutoNum type="arabicPeriod"/>
            </a:pPr>
            <a:r>
              <a:rPr lang="en-US" sz="2400"/>
              <a:t>To explore behavioral and engagement patterns through descriptive analytics and churn-related indicators.</a:t>
            </a:r>
          </a:p>
          <a:p>
            <a:pPr marL="457200" indent="-457200">
              <a:buAutoNum type="arabicPeriod"/>
            </a:pPr>
            <a:r>
              <a:rPr lang="en-US" sz="2400"/>
              <a:t>To engineer meaningful features capturing user recency, satisfaction, device usage, and content preferences.</a:t>
            </a:r>
          </a:p>
          <a:p>
            <a:pPr marL="457200" indent="-457200">
              <a:buAutoNum type="arabicPeriod"/>
            </a:pPr>
            <a:r>
              <a:rPr lang="en-US" sz="2400"/>
              <a:t>To segment users using clustering techniques to identify groups with different levels of churn risk.</a:t>
            </a:r>
          </a:p>
          <a:p>
            <a:pPr marL="457200" indent="-457200">
              <a:buAutoNum type="arabicPeriod"/>
            </a:pPr>
            <a:r>
              <a:rPr lang="en-US" sz="2400"/>
              <a:t>To build machine learning models that accurately predict churn and identify at-risk subscribers before they leave.</a:t>
            </a:r>
          </a:p>
        </p:txBody>
      </p:sp>
    </p:spTree>
    <p:extLst>
      <p:ext uri="{BB962C8B-B14F-4D97-AF65-F5344CB8AC3E}">
        <p14:creationId xmlns:p14="http://schemas.microsoft.com/office/powerpoint/2010/main" val="658455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5ED28-17D4-A6EA-AF24-7EDA53B3F67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335839-E3AA-8D89-E605-CE4B01AE566E}"/>
              </a:ext>
            </a:extLst>
          </p:cNvPr>
          <p:cNvSpPr>
            <a:spLocks noGrp="1"/>
          </p:cNvSpPr>
          <p:nvPr>
            <p:ph type="title"/>
          </p:nvPr>
        </p:nvSpPr>
        <p:spPr>
          <a:xfrm>
            <a:off x="1807190" y="443402"/>
            <a:ext cx="8577617" cy="316081"/>
          </a:xfrm>
        </p:spPr>
        <p:txBody>
          <a:bodyPr/>
          <a:lstStyle/>
          <a:p>
            <a:pPr algn="ctr"/>
            <a:r>
              <a:rPr lang="en-US">
                <a:solidFill>
                  <a:srgbClr val="FF0000"/>
                </a:solidFill>
                <a:latin typeface="Georgia"/>
                <a:cs typeface="Times New Roman"/>
              </a:rPr>
              <a:t>Design</a:t>
            </a:r>
            <a:endParaRPr lang="en-US"/>
          </a:p>
        </p:txBody>
      </p:sp>
      <p:sp>
        <p:nvSpPr>
          <p:cNvPr id="4" name="Slide Number Placeholder 3">
            <a:extLst>
              <a:ext uri="{FF2B5EF4-FFF2-40B4-BE49-F238E27FC236}">
                <a16:creationId xmlns:a16="http://schemas.microsoft.com/office/drawing/2014/main" id="{6BE32848-121F-6109-F604-36D894AD69CC}"/>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4</a:t>
            </a:fld>
            <a:endParaRPr lang="en-US" kern="1200">
              <a:solidFill>
                <a:prstClr val="white"/>
              </a:solidFill>
              <a:latin typeface="Calibri"/>
              <a:ea typeface="+mn-ea"/>
              <a:cs typeface="+mn-cs"/>
            </a:endParaRPr>
          </a:p>
        </p:txBody>
      </p:sp>
      <p:pic>
        <p:nvPicPr>
          <p:cNvPr id="6" name="Picture 5" descr="A diagram of a data processing process&#10;&#10;AI-generated content may be incorrect.">
            <a:extLst>
              <a:ext uri="{FF2B5EF4-FFF2-40B4-BE49-F238E27FC236}">
                <a16:creationId xmlns:a16="http://schemas.microsoft.com/office/drawing/2014/main" id="{CFD58BEF-E52B-84DF-B81F-8F385A50A85E}"/>
              </a:ext>
            </a:extLst>
          </p:cNvPr>
          <p:cNvPicPr>
            <a:picLocks noChangeAspect="1"/>
          </p:cNvPicPr>
          <p:nvPr/>
        </p:nvPicPr>
        <p:blipFill>
          <a:blip r:embed="rId3"/>
          <a:stretch>
            <a:fillRect/>
          </a:stretch>
        </p:blipFill>
        <p:spPr>
          <a:xfrm>
            <a:off x="4197684" y="761999"/>
            <a:ext cx="3810001" cy="5641475"/>
          </a:xfrm>
          <a:prstGeom prst="rect">
            <a:avLst/>
          </a:prstGeom>
        </p:spPr>
      </p:pic>
    </p:spTree>
    <p:extLst>
      <p:ext uri="{BB962C8B-B14F-4D97-AF65-F5344CB8AC3E}">
        <p14:creationId xmlns:p14="http://schemas.microsoft.com/office/powerpoint/2010/main" val="430575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634008" y="155268"/>
            <a:ext cx="8500313" cy="503821"/>
          </a:xfrm>
        </p:spPr>
        <p:txBody>
          <a:bodyPr/>
          <a:lstStyle/>
          <a:p>
            <a:pPr algn="ctr"/>
            <a:r>
              <a:rPr lang="en-US" sz="2800">
                <a:solidFill>
                  <a:srgbClr val="FF0000"/>
                </a:solidFill>
                <a:latin typeface="Georgia"/>
                <a:cs typeface="Times New Roman"/>
              </a:rPr>
              <a:t>Modules</a:t>
            </a:r>
            <a:endParaRPr lang="en-IN" sz="2800">
              <a:solidFill>
                <a:srgbClr val="FF0000"/>
              </a:solidFill>
              <a:latin typeface="Georgia"/>
              <a:cs typeface="Times New Roman"/>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5</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63E85382-0D59-D097-CB99-BB0096748D77}"/>
              </a:ext>
            </a:extLst>
          </p:cNvPr>
          <p:cNvSpPr txBox="1"/>
          <p:nvPr/>
        </p:nvSpPr>
        <p:spPr>
          <a:xfrm>
            <a:off x="982834" y="1046276"/>
            <a:ext cx="10224607" cy="61247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Module 1 – Data Acquisition &amp; Understanding</a:t>
            </a:r>
            <a:endParaRPr lang="en-US"/>
          </a:p>
          <a:p>
            <a:pPr marL="285750" indent="-285750">
              <a:buFont typeface="Arial"/>
              <a:buChar char="•"/>
            </a:pPr>
            <a:r>
              <a:rPr lang="en-US" sz="2000"/>
              <a:t>Integrate 6 data sources: Users, Watch History, Movies, Reviews, Recommendation Logs, Search Logs</a:t>
            </a:r>
            <a:endParaRPr lang="en-US"/>
          </a:p>
          <a:p>
            <a:pPr marL="285750" indent="-285750">
              <a:buFont typeface="Arial"/>
              <a:buChar char="•"/>
            </a:pPr>
            <a:r>
              <a:rPr lang="en-US" sz="2000"/>
              <a:t>Collect 10,000 unique user profiles from 210,000+ records</a:t>
            </a:r>
            <a:endParaRPr lang="en-US"/>
          </a:p>
          <a:p>
            <a:pPr marL="285750" indent="-285750">
              <a:buFont typeface="Arial"/>
              <a:buChar char="•"/>
            </a:pPr>
            <a:r>
              <a:rPr lang="en-US" sz="2000"/>
              <a:t>Understand attributes: demographics, plan type, content metadata, engagement metrics, sentiment</a:t>
            </a:r>
            <a:endParaRPr lang="en-US"/>
          </a:p>
          <a:p>
            <a:pPr marL="285750" indent="-285750">
              <a:buFont typeface="Arial"/>
              <a:buChar char="•"/>
            </a:pPr>
            <a:r>
              <a:rPr lang="en-US" sz="2000"/>
              <a:t>Identify target variable: churn = inactivity for &gt;60 days</a:t>
            </a:r>
            <a:endParaRPr lang="en-US"/>
          </a:p>
          <a:p>
            <a:pPr marL="285750" indent="-285750">
              <a:buFont typeface="Arial"/>
              <a:buChar char="•"/>
            </a:pPr>
            <a:r>
              <a:rPr lang="en-US" sz="2000"/>
              <a:t>Establish data schema for behavioral, preference, and temporal features</a:t>
            </a:r>
            <a:br>
              <a:rPr lang="en-US" sz="2000"/>
            </a:br>
            <a:r>
              <a:rPr lang="en-US" sz="2000"/>
              <a:t> </a:t>
            </a:r>
            <a:endParaRPr lang="en-US"/>
          </a:p>
          <a:p>
            <a:r>
              <a:rPr lang="en-US" sz="2000"/>
              <a:t>Module 2 – Data Preprocessing &amp; Feature Engineering</a:t>
            </a:r>
            <a:endParaRPr lang="en-US"/>
          </a:p>
          <a:p>
            <a:pPr marL="285750" indent="-285750">
              <a:buFont typeface="Arial"/>
              <a:buChar char="•"/>
            </a:pPr>
            <a:r>
              <a:rPr lang="en-US" sz="2000"/>
              <a:t>Handle missing data: median for numeric, mode/“Unknown” for categorical</a:t>
            </a:r>
            <a:endParaRPr lang="en-US"/>
          </a:p>
          <a:p>
            <a:pPr marL="285750" indent="-285750">
              <a:buFont typeface="Arial"/>
              <a:buChar char="•"/>
            </a:pPr>
            <a:r>
              <a:rPr lang="en-US" sz="2000"/>
              <a:t>Correct datatype mismatches across watch-time, timestamps, and rating fields</a:t>
            </a:r>
            <a:endParaRPr lang="en-US"/>
          </a:p>
          <a:p>
            <a:pPr marL="285750" indent="-285750">
              <a:buFont typeface="Arial"/>
              <a:buChar char="•"/>
            </a:pPr>
            <a:r>
              <a:rPr lang="en-US" sz="2000"/>
              <a:t>Apply one-hot encoding to categorical features like genre, plan type, and device</a:t>
            </a:r>
            <a:endParaRPr lang="en-US"/>
          </a:p>
          <a:p>
            <a:pPr marL="285750" indent="-285750">
              <a:buFont typeface="Arial"/>
              <a:buChar char="•"/>
            </a:pPr>
            <a:r>
              <a:rPr lang="en-US" sz="2000"/>
              <a:t>Engineer behavior metrics: total watch time, avg session duration, genre diversity</a:t>
            </a:r>
            <a:endParaRPr lang="en-US"/>
          </a:p>
          <a:p>
            <a:pPr marL="285750" indent="-285750">
              <a:buFont typeface="Arial"/>
              <a:buChar char="•"/>
            </a:pPr>
            <a:r>
              <a:rPr lang="en-US" sz="2000"/>
              <a:t>Generate recency features: days since last activity, week indicators</a:t>
            </a:r>
            <a:endParaRPr lang="en-US"/>
          </a:p>
          <a:p>
            <a:pPr marL="285750" indent="-285750">
              <a:buFont typeface="Arial"/>
              <a:buChar char="•"/>
            </a:pPr>
            <a:r>
              <a:rPr lang="en-US" sz="2000"/>
              <a:t>Detect and cap outliers using IQR method to control skewness</a:t>
            </a:r>
            <a:endParaRPr lang="en-US"/>
          </a:p>
          <a:p>
            <a:endParaRPr lang="en-US" sz="2000"/>
          </a:p>
          <a:p>
            <a:endParaRPr lang="en-US" sz="1800"/>
          </a:p>
          <a:p>
            <a:endParaRPr lang="en-US" sz="1800"/>
          </a:p>
          <a:p>
            <a:endParaRPr lang="en-US" sz="1600"/>
          </a:p>
        </p:txBody>
      </p:sp>
    </p:spTree>
    <p:extLst>
      <p:ext uri="{BB962C8B-B14F-4D97-AF65-F5344CB8AC3E}">
        <p14:creationId xmlns:p14="http://schemas.microsoft.com/office/powerpoint/2010/main" val="3998404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1C48F-DB76-FACA-04DF-DD7B511E9A6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CEE1FC-A48C-40C8-ABE9-0606A013E272}"/>
              </a:ext>
            </a:extLst>
          </p:cNvPr>
          <p:cNvSpPr>
            <a:spLocks noGrp="1"/>
          </p:cNvSpPr>
          <p:nvPr>
            <p:ph type="title"/>
          </p:nvPr>
        </p:nvSpPr>
        <p:spPr>
          <a:xfrm>
            <a:off x="1634008" y="155268"/>
            <a:ext cx="8500313" cy="503821"/>
          </a:xfrm>
        </p:spPr>
        <p:txBody>
          <a:bodyPr/>
          <a:lstStyle/>
          <a:p>
            <a:pPr algn="ctr"/>
            <a:r>
              <a:rPr lang="en-US" sz="2800">
                <a:solidFill>
                  <a:srgbClr val="FF0000"/>
                </a:solidFill>
                <a:latin typeface="Georgia"/>
                <a:cs typeface="Times New Roman"/>
              </a:rPr>
              <a:t>Modules</a:t>
            </a:r>
            <a:endParaRPr lang="en-IN" sz="2800">
              <a:solidFill>
                <a:srgbClr val="FF0000"/>
              </a:solidFill>
              <a:latin typeface="Georgia"/>
              <a:cs typeface="Times New Roman"/>
            </a:endParaRPr>
          </a:p>
        </p:txBody>
      </p:sp>
      <p:sp>
        <p:nvSpPr>
          <p:cNvPr id="4" name="Slide Number Placeholder 3">
            <a:extLst>
              <a:ext uri="{FF2B5EF4-FFF2-40B4-BE49-F238E27FC236}">
                <a16:creationId xmlns:a16="http://schemas.microsoft.com/office/drawing/2014/main" id="{75995081-FA2A-79A2-717E-2552C6E17635}"/>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6</a:t>
            </a:fld>
            <a:endParaRPr lang="en-US" kern="1200">
              <a:solidFill>
                <a:prstClr val="white"/>
              </a:solidFill>
              <a:latin typeface="Calibri"/>
              <a:ea typeface="+mn-ea"/>
              <a:cs typeface="+mn-cs"/>
            </a:endParaRPr>
          </a:p>
        </p:txBody>
      </p:sp>
      <p:sp>
        <p:nvSpPr>
          <p:cNvPr id="5" name="TextBox 4">
            <a:extLst>
              <a:ext uri="{FF2B5EF4-FFF2-40B4-BE49-F238E27FC236}">
                <a16:creationId xmlns:a16="http://schemas.microsoft.com/office/drawing/2014/main" id="{8E371F56-3DCB-B559-89EC-277A93544885}"/>
              </a:ext>
            </a:extLst>
          </p:cNvPr>
          <p:cNvSpPr txBox="1"/>
          <p:nvPr/>
        </p:nvSpPr>
        <p:spPr>
          <a:xfrm>
            <a:off x="1098378" y="969157"/>
            <a:ext cx="9723876" cy="52322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Module 3 – Exploratory Analysis &amp; Clustering</a:t>
            </a:r>
            <a:endParaRPr lang="en-US"/>
          </a:p>
          <a:p>
            <a:pPr marL="285750" indent="-285750">
              <a:buFont typeface="Arial"/>
              <a:buChar char="•"/>
            </a:pPr>
            <a:r>
              <a:rPr lang="en-US" sz="2000"/>
              <a:t>Perform univariate and bivariate exploration to detect churn patterns</a:t>
            </a:r>
            <a:endParaRPr lang="en-US"/>
          </a:p>
          <a:p>
            <a:pPr marL="285750" indent="-285750">
              <a:buFont typeface="Arial"/>
              <a:buChar char="•"/>
            </a:pPr>
            <a:r>
              <a:rPr lang="en-US" sz="2000"/>
              <a:t>Analyze distribution of usage, engagement, plan tier, and satisfaction scores</a:t>
            </a:r>
            <a:endParaRPr lang="en-US"/>
          </a:p>
          <a:p>
            <a:pPr marL="285750" indent="-285750">
              <a:buFont typeface="Arial"/>
              <a:buChar char="•"/>
            </a:pPr>
            <a:r>
              <a:rPr lang="en-US" sz="2000"/>
              <a:t>Identify key churn indicators: inactivity, low engagement, negative ratings</a:t>
            </a:r>
            <a:endParaRPr lang="en-US"/>
          </a:p>
          <a:p>
            <a:pPr marL="285750" indent="-285750">
              <a:buFont typeface="Arial"/>
              <a:buChar char="•"/>
            </a:pPr>
            <a:r>
              <a:rPr lang="en-US" sz="2000"/>
              <a:t>Apply K-Means clustering on PCA-transformed data</a:t>
            </a:r>
            <a:endParaRPr lang="en-US"/>
          </a:p>
          <a:p>
            <a:pPr marL="285750" indent="-285750">
              <a:buFont typeface="Arial"/>
              <a:buChar char="•"/>
            </a:pPr>
            <a:r>
              <a:rPr lang="en-US" sz="2000"/>
              <a:t>Segment users into: Engaged Users vs High-Value Power Users</a:t>
            </a:r>
            <a:endParaRPr lang="en-US"/>
          </a:p>
          <a:p>
            <a:pPr marL="285750" indent="-285750">
              <a:buFont typeface="Arial"/>
              <a:buChar char="•"/>
            </a:pPr>
            <a:r>
              <a:rPr lang="en-US" sz="2000"/>
              <a:t>Generate churn–CLV risk map to prioritize revenue-critical segments</a:t>
            </a:r>
            <a:endParaRPr lang="en-US"/>
          </a:p>
          <a:p>
            <a:endParaRPr lang="en-US" sz="2000"/>
          </a:p>
          <a:p>
            <a:r>
              <a:rPr lang="en-US" sz="2000"/>
              <a:t>Module 4 – Model Building (Baseline &amp; Ensemble)</a:t>
            </a:r>
            <a:endParaRPr lang="en-US"/>
          </a:p>
          <a:p>
            <a:pPr marL="285750" indent="-285750">
              <a:buFont typeface="Arial"/>
              <a:buChar char="•"/>
            </a:pPr>
            <a:r>
              <a:rPr lang="en-US" sz="2000"/>
              <a:t>Train Logistic Regression as baseline for interpretability</a:t>
            </a:r>
            <a:endParaRPr lang="en-US"/>
          </a:p>
          <a:p>
            <a:pPr marL="285750" indent="-285750">
              <a:buFont typeface="Arial"/>
              <a:buChar char="•"/>
            </a:pPr>
            <a:r>
              <a:rPr lang="en-US" sz="2000"/>
              <a:t>Train Decision Tree &amp; Random Forest for non-linear patterns</a:t>
            </a:r>
            <a:endParaRPr lang="en-US"/>
          </a:p>
          <a:p>
            <a:pPr marL="285750" indent="-285750">
              <a:buFont typeface="Arial"/>
              <a:buChar char="•"/>
            </a:pPr>
            <a:r>
              <a:rPr lang="en-US" sz="2000"/>
              <a:t>Apply advanced boosting: </a:t>
            </a:r>
            <a:r>
              <a:rPr lang="en-US" sz="2000" err="1"/>
              <a:t>XGBoost</a:t>
            </a:r>
            <a:r>
              <a:rPr lang="en-US" sz="2000"/>
              <a:t> and </a:t>
            </a:r>
            <a:r>
              <a:rPr lang="en-US" sz="2000" err="1"/>
              <a:t>LightGBM</a:t>
            </a:r>
            <a:endParaRPr lang="en-US"/>
          </a:p>
          <a:p>
            <a:pPr marL="285750" indent="-285750">
              <a:buFont typeface="Arial"/>
              <a:buChar char="•"/>
            </a:pPr>
            <a:r>
              <a:rPr lang="en-US" sz="2000"/>
              <a:t>Split data into </a:t>
            </a:r>
            <a:r>
              <a:rPr lang="en-US" sz="2000" b="1"/>
              <a:t>80% training / 20% testing</a:t>
            </a:r>
            <a:endParaRPr lang="en-US"/>
          </a:p>
          <a:p>
            <a:pPr marL="285750" indent="-285750">
              <a:buFont typeface="Arial"/>
              <a:buChar char="•"/>
            </a:pPr>
            <a:r>
              <a:rPr lang="en-US" sz="2000"/>
              <a:t>Address class imbalance using </a:t>
            </a:r>
            <a:r>
              <a:rPr lang="en-US" sz="2000" err="1"/>
              <a:t>upsampling</a:t>
            </a:r>
            <a:r>
              <a:rPr lang="en-US" sz="2000"/>
              <a:t> &amp; class weights</a:t>
            </a:r>
            <a:endParaRPr lang="en-US"/>
          </a:p>
          <a:p>
            <a:pPr marL="285750" indent="-285750">
              <a:buFont typeface="Arial"/>
              <a:buChar char="•"/>
            </a:pPr>
            <a:r>
              <a:rPr lang="en-US" sz="2000"/>
              <a:t>Select </a:t>
            </a:r>
            <a:r>
              <a:rPr lang="en-US" sz="2000" err="1"/>
              <a:t>LightGBM</a:t>
            </a:r>
            <a:r>
              <a:rPr lang="en-US" sz="2000"/>
              <a:t> as final model due to best recall &amp; PR-AUC</a:t>
            </a:r>
            <a:endParaRPr lang="en-US"/>
          </a:p>
          <a:p>
            <a:endParaRPr lang="en-US" sz="2000"/>
          </a:p>
          <a:p>
            <a:endParaRPr lang="en-US"/>
          </a:p>
        </p:txBody>
      </p:sp>
    </p:spTree>
    <p:extLst>
      <p:ext uri="{BB962C8B-B14F-4D97-AF65-F5344CB8AC3E}">
        <p14:creationId xmlns:p14="http://schemas.microsoft.com/office/powerpoint/2010/main" val="1726977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7B0D0-7C42-9E51-D781-32D68DD7FF1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A82CE1B-A357-882D-ED60-7C902DB49121}"/>
              </a:ext>
            </a:extLst>
          </p:cNvPr>
          <p:cNvSpPr>
            <a:spLocks noGrp="1"/>
          </p:cNvSpPr>
          <p:nvPr>
            <p:ph type="title"/>
          </p:nvPr>
        </p:nvSpPr>
        <p:spPr>
          <a:xfrm>
            <a:off x="1634008" y="155268"/>
            <a:ext cx="8500313" cy="503821"/>
          </a:xfrm>
        </p:spPr>
        <p:txBody>
          <a:bodyPr/>
          <a:lstStyle/>
          <a:p>
            <a:pPr algn="ctr"/>
            <a:r>
              <a:rPr lang="en-US" sz="2800">
                <a:solidFill>
                  <a:srgbClr val="FF0000"/>
                </a:solidFill>
                <a:latin typeface="Georgia"/>
                <a:cs typeface="Times New Roman"/>
              </a:rPr>
              <a:t>Modules</a:t>
            </a:r>
            <a:endParaRPr lang="en-IN" sz="2800">
              <a:solidFill>
                <a:srgbClr val="FF0000"/>
              </a:solidFill>
              <a:latin typeface="Georgia"/>
              <a:cs typeface="Times New Roman"/>
            </a:endParaRPr>
          </a:p>
        </p:txBody>
      </p:sp>
      <p:sp>
        <p:nvSpPr>
          <p:cNvPr id="4" name="Slide Number Placeholder 3">
            <a:extLst>
              <a:ext uri="{FF2B5EF4-FFF2-40B4-BE49-F238E27FC236}">
                <a16:creationId xmlns:a16="http://schemas.microsoft.com/office/drawing/2014/main" id="{53166A5E-C24B-4D72-E1F1-08064E9B11DE}"/>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7</a:t>
            </a:fld>
            <a:endParaRPr lang="en-US" kern="1200">
              <a:solidFill>
                <a:prstClr val="white"/>
              </a:solidFill>
              <a:latin typeface="Calibri"/>
              <a:ea typeface="+mn-ea"/>
              <a:cs typeface="+mn-cs"/>
            </a:endParaRPr>
          </a:p>
        </p:txBody>
      </p:sp>
      <p:sp>
        <p:nvSpPr>
          <p:cNvPr id="5" name="TextBox 4">
            <a:extLst>
              <a:ext uri="{FF2B5EF4-FFF2-40B4-BE49-F238E27FC236}">
                <a16:creationId xmlns:a16="http://schemas.microsoft.com/office/drawing/2014/main" id="{EFC48BEF-21EA-AB92-F645-323CEC9CB4E9}"/>
              </a:ext>
            </a:extLst>
          </p:cNvPr>
          <p:cNvSpPr txBox="1"/>
          <p:nvPr/>
        </p:nvSpPr>
        <p:spPr>
          <a:xfrm>
            <a:off x="1236923" y="1488702"/>
            <a:ext cx="9723876" cy="30777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Module 5 – Model Evaluation &amp; Explainability</a:t>
            </a:r>
            <a:endParaRPr lang="en-US"/>
          </a:p>
          <a:p>
            <a:pPr marL="285750" indent="-285750">
              <a:buFont typeface="Arial"/>
              <a:buChar char="•"/>
            </a:pPr>
            <a:r>
              <a:rPr lang="en-US" sz="2000"/>
              <a:t>Evaluate using Recall, Precision, F1-Score, ROC-AUC, PR-AUC</a:t>
            </a:r>
            <a:endParaRPr lang="en-US"/>
          </a:p>
          <a:p>
            <a:pPr marL="285750" indent="-285750">
              <a:buFont typeface="Arial"/>
              <a:buChar char="•"/>
            </a:pPr>
            <a:r>
              <a:rPr lang="en-US" sz="2000"/>
              <a:t>Compare baseline vs ensemble models</a:t>
            </a:r>
            <a:endParaRPr lang="en-US"/>
          </a:p>
          <a:p>
            <a:pPr marL="285750" indent="-285750">
              <a:buFont typeface="Arial"/>
              <a:buChar char="•"/>
            </a:pPr>
            <a:r>
              <a:rPr lang="en-US" sz="2000"/>
              <a:t>Use </a:t>
            </a:r>
            <a:r>
              <a:rPr lang="en-US" sz="2000" b="1"/>
              <a:t>SHAP explainability</a:t>
            </a:r>
            <a:r>
              <a:rPr lang="en-US" sz="2000"/>
              <a:t> to interpret churn drivers</a:t>
            </a:r>
            <a:endParaRPr lang="en-US"/>
          </a:p>
          <a:p>
            <a:pPr marL="285750" indent="-285750">
              <a:buFont typeface="Arial"/>
              <a:buChar char="•"/>
            </a:pPr>
            <a:r>
              <a:rPr lang="en-US" sz="2000"/>
              <a:t>Identify feature importance: inactivity, engagement decay, dissatisfaction</a:t>
            </a:r>
            <a:endParaRPr lang="en-US"/>
          </a:p>
          <a:p>
            <a:pPr marL="285750" indent="-285750">
              <a:buFont typeface="Arial"/>
              <a:buChar char="•"/>
            </a:pPr>
            <a:r>
              <a:rPr lang="en-US" sz="2000"/>
              <a:t>Generate user-level explanations for targeted retention</a:t>
            </a:r>
            <a:endParaRPr lang="en-US"/>
          </a:p>
          <a:p>
            <a:pPr marL="285750" indent="-285750">
              <a:buFont typeface="Arial"/>
              <a:buChar char="•"/>
            </a:pPr>
            <a:r>
              <a:rPr lang="en-US" sz="2000"/>
              <a:t>Link predictive results to business strategy and CLV</a:t>
            </a:r>
            <a:endParaRPr lang="en-US"/>
          </a:p>
          <a:p>
            <a:endParaRPr lang="en-US" sz="2000"/>
          </a:p>
          <a:p>
            <a:endParaRPr lang="en-US" sz="2000"/>
          </a:p>
          <a:p>
            <a:endParaRPr lang="en-US"/>
          </a:p>
        </p:txBody>
      </p:sp>
    </p:spTree>
    <p:extLst>
      <p:ext uri="{BB962C8B-B14F-4D97-AF65-F5344CB8AC3E}">
        <p14:creationId xmlns:p14="http://schemas.microsoft.com/office/powerpoint/2010/main" val="2906234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657099" y="238094"/>
            <a:ext cx="8577617" cy="316081"/>
          </a:xfrm>
        </p:spPr>
        <p:txBody>
          <a:bodyPr/>
          <a:lstStyle/>
          <a:p>
            <a:pPr algn="ctr"/>
            <a:r>
              <a:rPr lang="en-US" sz="2800">
                <a:solidFill>
                  <a:srgbClr val="FF0000"/>
                </a:solidFill>
                <a:latin typeface="Georgia"/>
                <a:cs typeface="Times New Roman"/>
              </a:rPr>
              <a:t>Implementation Details</a:t>
            </a:r>
            <a:endParaRPr lang="en-IN" sz="2800">
              <a:solidFill>
                <a:srgbClr val="FF0000"/>
              </a:solidFill>
              <a:latin typeface="Georgia"/>
              <a:cs typeface="Times New Roman"/>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8</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F856B158-6A41-92A3-521D-129CB0149AA6}"/>
              </a:ext>
            </a:extLst>
          </p:cNvPr>
          <p:cNvSpPr txBox="1"/>
          <p:nvPr/>
        </p:nvSpPr>
        <p:spPr>
          <a:xfrm>
            <a:off x="1105261" y="745075"/>
            <a:ext cx="9982318" cy="61555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Dataset Integration:</a:t>
            </a:r>
            <a:endParaRPr lang="en-US"/>
          </a:p>
          <a:p>
            <a:pPr marL="285750" indent="-285750">
              <a:buFont typeface="Arial"/>
              <a:buChar char="•"/>
            </a:pPr>
            <a:r>
              <a:rPr lang="en-US" sz="2000"/>
              <a:t>Combined six sources: Users, Watch History, Movies, Reviews, Recommendation Logs, Search Logs.</a:t>
            </a:r>
            <a:endParaRPr lang="en-US"/>
          </a:p>
          <a:p>
            <a:pPr marL="285750" indent="-285750">
              <a:buFont typeface="Arial"/>
              <a:buChar char="•"/>
            </a:pPr>
            <a:r>
              <a:rPr lang="en-US" sz="2000"/>
              <a:t>Linked using </a:t>
            </a:r>
            <a:r>
              <a:rPr lang="en-US" sz="2000" err="1">
                <a:latin typeface="Consolas"/>
              </a:rPr>
              <a:t>user_id</a:t>
            </a:r>
            <a:r>
              <a:rPr lang="en-US" sz="2000"/>
              <a:t> and </a:t>
            </a:r>
            <a:r>
              <a:rPr lang="en-US" sz="2000" err="1">
                <a:latin typeface="Consolas"/>
              </a:rPr>
              <a:t>movie_id</a:t>
            </a:r>
            <a:r>
              <a:rPr lang="en-US" sz="2000"/>
              <a:t> to form a unified customer-level dataset.</a:t>
            </a:r>
            <a:endParaRPr lang="en-US"/>
          </a:p>
          <a:p>
            <a:pPr marL="285750" indent="-285750">
              <a:buFont typeface="Arial"/>
              <a:buChar char="•"/>
            </a:pPr>
            <a:r>
              <a:rPr lang="en-US" sz="2000"/>
              <a:t>Final curated dataset: </a:t>
            </a:r>
            <a:r>
              <a:rPr lang="en-US" sz="2000" b="1"/>
              <a:t>10,000 users, 37 features</a:t>
            </a:r>
            <a:r>
              <a:rPr lang="en-US" sz="2000"/>
              <a:t>.</a:t>
            </a:r>
            <a:endParaRPr lang="en-US"/>
          </a:p>
          <a:p>
            <a:endParaRPr lang="en-US" sz="2000"/>
          </a:p>
          <a:p>
            <a:r>
              <a:rPr lang="en-US" sz="2000"/>
              <a:t>Data Cleaning &amp; Preparation</a:t>
            </a:r>
            <a:endParaRPr lang="en-US"/>
          </a:p>
          <a:p>
            <a:pPr marL="285750" indent="-285750">
              <a:buFont typeface="Arial"/>
              <a:buChar char="•"/>
            </a:pPr>
            <a:r>
              <a:rPr lang="en-US" sz="2000"/>
              <a:t>Numeric missing values filled using </a:t>
            </a:r>
            <a:r>
              <a:rPr lang="en-US" sz="2000" b="1"/>
              <a:t>median</a:t>
            </a:r>
            <a:r>
              <a:rPr lang="en-US" sz="2000"/>
              <a:t>; categorical missing values → </a:t>
            </a:r>
            <a:r>
              <a:rPr lang="en-US" sz="2000" b="1"/>
              <a:t>mode or “Unknown”</a:t>
            </a:r>
            <a:r>
              <a:rPr lang="en-US" sz="2000"/>
              <a:t>.</a:t>
            </a:r>
            <a:endParaRPr lang="en-US"/>
          </a:p>
          <a:p>
            <a:pPr marL="285750" indent="-285750">
              <a:buFont typeface="Arial"/>
              <a:buChar char="•"/>
            </a:pPr>
            <a:r>
              <a:rPr lang="en-US" sz="2000"/>
              <a:t>Outliers detected using </a:t>
            </a:r>
            <a:r>
              <a:rPr lang="en-US" sz="2000" b="1"/>
              <a:t>IQR</a:t>
            </a:r>
            <a:r>
              <a:rPr lang="en-US" sz="2000"/>
              <a:t> and capped for variables such as watch time and session counts.</a:t>
            </a:r>
            <a:endParaRPr lang="en-US"/>
          </a:p>
          <a:p>
            <a:pPr marL="285750" indent="-285750">
              <a:buFont typeface="Arial"/>
              <a:buChar char="•"/>
            </a:pPr>
            <a:r>
              <a:rPr lang="en-US" sz="2000"/>
              <a:t>Standardized data types and validated feature ranges.</a:t>
            </a:r>
            <a:endParaRPr lang="en-US"/>
          </a:p>
          <a:p>
            <a:endParaRPr lang="en-US" sz="2000"/>
          </a:p>
          <a:p>
            <a:r>
              <a:rPr lang="en-US" sz="2000"/>
              <a:t>Feature Engineering</a:t>
            </a:r>
            <a:endParaRPr lang="en-US"/>
          </a:p>
          <a:p>
            <a:pPr marL="285750" indent="-285750">
              <a:buFont typeface="Arial"/>
              <a:buChar char="•"/>
            </a:pPr>
            <a:r>
              <a:rPr lang="en-US" sz="2000"/>
              <a:t>Created behavioral metrics: </a:t>
            </a:r>
            <a:r>
              <a:rPr lang="en-US" sz="2000" b="1"/>
              <a:t>total watch hours, average session duration, engagement frequency</a:t>
            </a:r>
            <a:r>
              <a:rPr lang="en-US" sz="2000"/>
              <a:t>.</a:t>
            </a:r>
            <a:endParaRPr lang="en-US"/>
          </a:p>
          <a:p>
            <a:pPr marL="285750" indent="-285750">
              <a:buFont typeface="Arial"/>
              <a:buChar char="•"/>
            </a:pPr>
            <a:r>
              <a:rPr lang="en-US" sz="2000"/>
              <a:t>Temporal features: </a:t>
            </a:r>
            <a:r>
              <a:rPr lang="en-US" sz="2000" b="1"/>
              <a:t>days since last activity, month, weekend indicator</a:t>
            </a:r>
            <a:r>
              <a:rPr lang="en-US" sz="2000"/>
              <a:t>.</a:t>
            </a:r>
            <a:endParaRPr lang="en-US"/>
          </a:p>
          <a:p>
            <a:pPr marL="285750" indent="-285750">
              <a:buFont typeface="Arial"/>
              <a:buChar char="•"/>
            </a:pPr>
            <a:r>
              <a:rPr lang="en-US" sz="2000"/>
              <a:t>Satisfaction indicators: </a:t>
            </a:r>
            <a:r>
              <a:rPr lang="en-US" sz="2000" b="1"/>
              <a:t>rating ratios, sentiment from reviews</a:t>
            </a:r>
            <a:r>
              <a:rPr lang="en-US" sz="2000"/>
              <a:t>.</a:t>
            </a:r>
            <a:endParaRPr lang="en-US"/>
          </a:p>
          <a:p>
            <a:pPr marL="285750" indent="-285750">
              <a:buFont typeface="Arial"/>
              <a:buChar char="•"/>
            </a:pPr>
            <a:r>
              <a:rPr lang="en-US" sz="2000"/>
              <a:t>One-hot encoded categorical variables to prepare for ML.</a:t>
            </a:r>
            <a:endParaRPr lang="en-US"/>
          </a:p>
          <a:p>
            <a:endParaRPr lang="en-US" sz="2000"/>
          </a:p>
          <a:p>
            <a:endParaRPr lang="en-US"/>
          </a:p>
        </p:txBody>
      </p:sp>
    </p:spTree>
    <p:extLst>
      <p:ext uri="{BB962C8B-B14F-4D97-AF65-F5344CB8AC3E}">
        <p14:creationId xmlns:p14="http://schemas.microsoft.com/office/powerpoint/2010/main" val="2852115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69823-928F-D3EB-9295-8D29DF7B396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3F21CDC-5B02-ACFE-429C-74A3C120C438}"/>
              </a:ext>
            </a:extLst>
          </p:cNvPr>
          <p:cNvSpPr>
            <a:spLocks noGrp="1"/>
          </p:cNvSpPr>
          <p:nvPr>
            <p:ph type="title"/>
          </p:nvPr>
        </p:nvSpPr>
        <p:spPr>
          <a:xfrm>
            <a:off x="1657099" y="238094"/>
            <a:ext cx="8577617" cy="316081"/>
          </a:xfrm>
        </p:spPr>
        <p:txBody>
          <a:bodyPr/>
          <a:lstStyle/>
          <a:p>
            <a:pPr algn="ctr"/>
            <a:r>
              <a:rPr lang="en-US" sz="2800">
                <a:solidFill>
                  <a:srgbClr val="FF0000"/>
                </a:solidFill>
                <a:latin typeface="Georgia"/>
                <a:cs typeface="Times New Roman"/>
              </a:rPr>
              <a:t>Implementation Details</a:t>
            </a:r>
            <a:endParaRPr lang="en-IN" sz="2800">
              <a:solidFill>
                <a:srgbClr val="FF0000"/>
              </a:solidFill>
              <a:latin typeface="Georgia"/>
              <a:cs typeface="Times New Roman"/>
            </a:endParaRPr>
          </a:p>
        </p:txBody>
      </p:sp>
      <p:sp>
        <p:nvSpPr>
          <p:cNvPr id="4" name="Slide Number Placeholder 3">
            <a:extLst>
              <a:ext uri="{FF2B5EF4-FFF2-40B4-BE49-F238E27FC236}">
                <a16:creationId xmlns:a16="http://schemas.microsoft.com/office/drawing/2014/main" id="{30054C90-8DD7-683B-CCB4-F1C5A29C06D5}"/>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9</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FC63B191-EFAC-7F8C-490B-C8EC59C207A5}"/>
              </a:ext>
            </a:extLst>
          </p:cNvPr>
          <p:cNvSpPr txBox="1"/>
          <p:nvPr/>
        </p:nvSpPr>
        <p:spPr>
          <a:xfrm>
            <a:off x="1105261" y="745075"/>
            <a:ext cx="9982318" cy="55399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Dimensionality Reduction</a:t>
            </a:r>
            <a:endParaRPr lang="en-US"/>
          </a:p>
          <a:p>
            <a:pPr marL="285750" indent="-285750">
              <a:buFont typeface="Arial"/>
              <a:buChar char="•"/>
            </a:pPr>
            <a:r>
              <a:rPr lang="en-US" sz="2000"/>
              <a:t>Applied </a:t>
            </a:r>
            <a:r>
              <a:rPr lang="en-US" sz="2000" b="1"/>
              <a:t>PCA</a:t>
            </a:r>
            <a:r>
              <a:rPr lang="en-US" sz="2000"/>
              <a:t> to reduce high-dimensional encoded vectors.</a:t>
            </a:r>
            <a:endParaRPr lang="en-US"/>
          </a:p>
          <a:p>
            <a:pPr marL="285750" indent="-285750">
              <a:buFont typeface="Arial"/>
              <a:buChar char="•"/>
            </a:pPr>
            <a:r>
              <a:rPr lang="en-US" sz="2000"/>
              <a:t>Retained </a:t>
            </a:r>
            <a:r>
              <a:rPr lang="en-US" sz="2000" b="1"/>
              <a:t>95% variance</a:t>
            </a:r>
            <a:r>
              <a:rPr lang="en-US" sz="2000"/>
              <a:t>, improving computational speed and model performance.</a:t>
            </a:r>
            <a:endParaRPr lang="en-US"/>
          </a:p>
          <a:p>
            <a:endParaRPr lang="en-US" sz="2000"/>
          </a:p>
          <a:p>
            <a:r>
              <a:rPr lang="en-US" sz="2000"/>
              <a:t>Model Development</a:t>
            </a:r>
            <a:endParaRPr lang="en-US"/>
          </a:p>
          <a:p>
            <a:pPr marL="285750" indent="-285750">
              <a:buFont typeface="Arial"/>
              <a:buChar char="•"/>
            </a:pPr>
            <a:r>
              <a:rPr lang="en-US" sz="2000"/>
              <a:t>Dataset split: </a:t>
            </a:r>
            <a:r>
              <a:rPr lang="en-US" sz="2000" b="1"/>
              <a:t>80% training / 20% testing</a:t>
            </a:r>
            <a:r>
              <a:rPr lang="en-US" sz="2000"/>
              <a:t>.</a:t>
            </a:r>
            <a:endParaRPr lang="en-US"/>
          </a:p>
          <a:p>
            <a:pPr marL="285750" indent="-285750">
              <a:buFont typeface="Arial"/>
              <a:buChar char="•"/>
            </a:pPr>
            <a:r>
              <a:rPr lang="en-US" sz="2000"/>
              <a:t>Managed severe churn imbalance using </a:t>
            </a:r>
            <a:r>
              <a:rPr lang="en-US" sz="2000" b="1" err="1"/>
              <a:t>upsampling</a:t>
            </a:r>
            <a:r>
              <a:rPr lang="en-US" sz="2000" b="1"/>
              <a:t> and class weights</a:t>
            </a:r>
            <a:r>
              <a:rPr lang="en-US" sz="2000"/>
              <a:t>.</a:t>
            </a:r>
            <a:endParaRPr lang="en-US"/>
          </a:p>
          <a:p>
            <a:pPr marL="285750" indent="-285750">
              <a:buFont typeface="Arial"/>
              <a:buChar char="•"/>
            </a:pPr>
            <a:r>
              <a:rPr lang="en-US" sz="2000"/>
              <a:t>Trained multiple models: </a:t>
            </a:r>
            <a:r>
              <a:rPr lang="en-US" sz="2000" b="1"/>
              <a:t>Logistic Regression, Decision Tree, Random Forest, Gradient Boosting, </a:t>
            </a:r>
            <a:r>
              <a:rPr lang="en-US" sz="2000" b="1" err="1"/>
              <a:t>XGBoost</a:t>
            </a:r>
            <a:r>
              <a:rPr lang="en-US" sz="2000" b="1"/>
              <a:t>, </a:t>
            </a:r>
            <a:r>
              <a:rPr lang="en-US" sz="2000" b="1" err="1"/>
              <a:t>LightGBM</a:t>
            </a:r>
            <a:r>
              <a:rPr lang="en-US" sz="2000"/>
              <a:t>.</a:t>
            </a:r>
            <a:endParaRPr lang="en-US"/>
          </a:p>
          <a:p>
            <a:endParaRPr lang="en-US" sz="2000"/>
          </a:p>
          <a:p>
            <a:r>
              <a:rPr lang="en-US" sz="2000"/>
              <a:t>Explainability &amp; Interpretation</a:t>
            </a:r>
            <a:endParaRPr lang="en-US"/>
          </a:p>
          <a:p>
            <a:pPr marL="285750" indent="-285750">
              <a:buFont typeface="Arial"/>
              <a:buChar char="•"/>
            </a:pPr>
            <a:r>
              <a:rPr lang="en-US" sz="2000"/>
              <a:t>Used </a:t>
            </a:r>
            <a:r>
              <a:rPr lang="en-US" sz="2000" b="1"/>
              <a:t>SHAP values</a:t>
            </a:r>
            <a:r>
              <a:rPr lang="en-US" sz="2000"/>
              <a:t> to interpret feature importance at both global and user level.</a:t>
            </a:r>
            <a:endParaRPr lang="en-US"/>
          </a:p>
          <a:p>
            <a:pPr marL="285750" indent="-285750">
              <a:buFont typeface="Arial"/>
              <a:buChar char="•"/>
            </a:pPr>
            <a:r>
              <a:rPr lang="en-US" sz="2000"/>
              <a:t>Identified key churn drivers: </a:t>
            </a:r>
            <a:r>
              <a:rPr lang="en-US" sz="2000" b="1"/>
              <a:t>inactivity, declining engagement, negative ratings, low recommendation interaction</a:t>
            </a:r>
            <a:r>
              <a:rPr lang="en-US" sz="2000"/>
              <a:t>.</a:t>
            </a:r>
            <a:endParaRPr lang="en-US"/>
          </a:p>
          <a:p>
            <a:pPr marL="285750" indent="-285750">
              <a:buFont typeface="Arial"/>
              <a:buChar char="•"/>
            </a:pPr>
            <a:r>
              <a:rPr lang="en-US" sz="2000"/>
              <a:t>Integrated insights with </a:t>
            </a:r>
            <a:r>
              <a:rPr lang="en-US" sz="2000" b="1"/>
              <a:t>CLV–churn matrix</a:t>
            </a:r>
            <a:r>
              <a:rPr lang="en-US" sz="2000"/>
              <a:t> for business-driven prioritization.</a:t>
            </a:r>
            <a:endParaRPr lang="en-US"/>
          </a:p>
          <a:p>
            <a:endParaRPr lang="en-US" sz="2000"/>
          </a:p>
          <a:p>
            <a:endParaRPr lang="en-US" sz="2000"/>
          </a:p>
          <a:p>
            <a:endParaRPr lang="en-US"/>
          </a:p>
        </p:txBody>
      </p:sp>
    </p:spTree>
    <p:extLst>
      <p:ext uri="{BB962C8B-B14F-4D97-AF65-F5344CB8AC3E}">
        <p14:creationId xmlns:p14="http://schemas.microsoft.com/office/powerpoint/2010/main" val="1910195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DC7BB-21B1-16C7-95F0-925BFB8CC87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E2CBBA-5904-C40F-424F-15B32CD59827}"/>
              </a:ext>
            </a:extLst>
          </p:cNvPr>
          <p:cNvSpPr>
            <a:spLocks noGrp="1"/>
          </p:cNvSpPr>
          <p:nvPr>
            <p:ph type="title"/>
          </p:nvPr>
        </p:nvSpPr>
        <p:spPr>
          <a:xfrm>
            <a:off x="1807190" y="434367"/>
            <a:ext cx="8577617" cy="316081"/>
          </a:xfrm>
        </p:spPr>
        <p:txBody>
          <a:bodyPr/>
          <a:lstStyle/>
          <a:p>
            <a:pPr algn="ctr"/>
            <a:r>
              <a:rPr lang="en-US" sz="2800">
                <a:solidFill>
                  <a:srgbClr val="FF0000"/>
                </a:solidFill>
                <a:latin typeface="Georgia"/>
                <a:cs typeface="Times New Roman"/>
              </a:rPr>
              <a:t>Methodology</a:t>
            </a:r>
          </a:p>
        </p:txBody>
      </p:sp>
      <p:sp>
        <p:nvSpPr>
          <p:cNvPr id="4" name="Slide Number Placeholder 3">
            <a:extLst>
              <a:ext uri="{FF2B5EF4-FFF2-40B4-BE49-F238E27FC236}">
                <a16:creationId xmlns:a16="http://schemas.microsoft.com/office/drawing/2014/main" id="{043D6477-E019-167A-056E-F38FEC734279}"/>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10</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47DB5ECF-F90C-3EFC-961E-461FCD81175D}"/>
              </a:ext>
            </a:extLst>
          </p:cNvPr>
          <p:cNvSpPr txBox="1"/>
          <p:nvPr/>
        </p:nvSpPr>
        <p:spPr>
          <a:xfrm>
            <a:off x="1292209" y="1082225"/>
            <a:ext cx="9836944" cy="40010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The methodology begins with integrating six different datasets into a single user-level profile and performing extensive preprocessing, including missing value imputation, datatype corrections, and outlier handling. Behavioral and temporal features such as watch time, session frequency, recency, sentiment, and genre diversity were engineered to capture user engagement patterns. Exploratory Data Analysis was used to identify churn indicators, after which PCA was applied to reduce dimensionality. K-Means clustering helped segment users into meaningful groups based on behavior. Finally, multiple machine learning models were trained, compared, and interpreted using SHAP to identify the key drivers of churn and support actionable insights.</a:t>
            </a:r>
          </a:p>
          <a:p>
            <a:pPr algn="l"/>
            <a:endParaRPr lang="en-US"/>
          </a:p>
        </p:txBody>
      </p:sp>
    </p:spTree>
    <p:extLst>
      <p:ext uri="{BB962C8B-B14F-4D97-AF65-F5344CB8AC3E}">
        <p14:creationId xmlns:p14="http://schemas.microsoft.com/office/powerpoint/2010/main" val="897529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6EE98-CE42-E31F-FD8E-326FEC2C8C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3D93E9-18BD-5EE2-911C-DB5C0906366B}"/>
              </a:ext>
            </a:extLst>
          </p:cNvPr>
          <p:cNvSpPr>
            <a:spLocks noGrp="1"/>
          </p:cNvSpPr>
          <p:nvPr>
            <p:ph type="title"/>
          </p:nvPr>
        </p:nvSpPr>
        <p:spPr>
          <a:xfrm>
            <a:off x="1807190" y="434367"/>
            <a:ext cx="8577617" cy="316081"/>
          </a:xfrm>
        </p:spPr>
        <p:txBody>
          <a:bodyPr/>
          <a:lstStyle/>
          <a:p>
            <a:pPr algn="ctr"/>
            <a:r>
              <a:rPr lang="en-US" sz="2800">
                <a:solidFill>
                  <a:srgbClr val="FF0000"/>
                </a:solidFill>
                <a:latin typeface="Georgia"/>
                <a:cs typeface="Times New Roman"/>
              </a:rPr>
              <a:t>Results</a:t>
            </a:r>
          </a:p>
        </p:txBody>
      </p:sp>
      <p:sp>
        <p:nvSpPr>
          <p:cNvPr id="4" name="Slide Number Placeholder 3">
            <a:extLst>
              <a:ext uri="{FF2B5EF4-FFF2-40B4-BE49-F238E27FC236}">
                <a16:creationId xmlns:a16="http://schemas.microsoft.com/office/drawing/2014/main" id="{599C7185-0403-F713-3DB9-ABD5E22F9CFA}"/>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11</a:t>
            </a:fld>
            <a:endParaRPr lang="en-US" kern="1200">
              <a:solidFill>
                <a:prstClr val="white"/>
              </a:solidFill>
              <a:latin typeface="Calibri"/>
              <a:ea typeface="+mn-ea"/>
              <a:cs typeface="+mn-cs"/>
            </a:endParaRPr>
          </a:p>
        </p:txBody>
      </p:sp>
      <p:pic>
        <p:nvPicPr>
          <p:cNvPr id="2" name="Picture 1" descr="A screenshot of a graph&#10;&#10;AI-generated content may be incorrect.">
            <a:extLst>
              <a:ext uri="{FF2B5EF4-FFF2-40B4-BE49-F238E27FC236}">
                <a16:creationId xmlns:a16="http://schemas.microsoft.com/office/drawing/2014/main" id="{23C80ECA-DC32-282F-4C17-624C0CA6A996}"/>
              </a:ext>
            </a:extLst>
          </p:cNvPr>
          <p:cNvPicPr>
            <a:picLocks noChangeAspect="1"/>
          </p:cNvPicPr>
          <p:nvPr/>
        </p:nvPicPr>
        <p:blipFill>
          <a:blip r:embed="rId3"/>
          <a:stretch>
            <a:fillRect/>
          </a:stretch>
        </p:blipFill>
        <p:spPr>
          <a:xfrm>
            <a:off x="2994826" y="748632"/>
            <a:ext cx="6202350" cy="5601368"/>
          </a:xfrm>
          <a:prstGeom prst="rect">
            <a:avLst/>
          </a:prstGeom>
        </p:spPr>
      </p:pic>
    </p:spTree>
    <p:extLst>
      <p:ext uri="{BB962C8B-B14F-4D97-AF65-F5344CB8AC3E}">
        <p14:creationId xmlns:p14="http://schemas.microsoft.com/office/powerpoint/2010/main" val="3805587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D3924-94EE-DFF1-6744-E5ACBDEE20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4B042DF-9577-FC36-6837-B174EB42FBF0}"/>
              </a:ext>
            </a:extLst>
          </p:cNvPr>
          <p:cNvSpPr>
            <a:spLocks noGrp="1"/>
          </p:cNvSpPr>
          <p:nvPr>
            <p:ph type="title"/>
          </p:nvPr>
        </p:nvSpPr>
        <p:spPr>
          <a:xfrm>
            <a:off x="1807190" y="434367"/>
            <a:ext cx="8577617" cy="316081"/>
          </a:xfrm>
        </p:spPr>
        <p:txBody>
          <a:bodyPr/>
          <a:lstStyle/>
          <a:p>
            <a:pPr algn="ctr"/>
            <a:r>
              <a:rPr lang="en-US" sz="2800">
                <a:solidFill>
                  <a:srgbClr val="FF0000"/>
                </a:solidFill>
                <a:latin typeface="Georgia"/>
                <a:cs typeface="Times New Roman"/>
              </a:rPr>
              <a:t>Results</a:t>
            </a:r>
          </a:p>
        </p:txBody>
      </p:sp>
      <p:sp>
        <p:nvSpPr>
          <p:cNvPr id="4" name="Slide Number Placeholder 3">
            <a:extLst>
              <a:ext uri="{FF2B5EF4-FFF2-40B4-BE49-F238E27FC236}">
                <a16:creationId xmlns:a16="http://schemas.microsoft.com/office/drawing/2014/main" id="{F6668B6B-3F1E-F4B9-D938-D654C7F0B57E}"/>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12</a:t>
            </a:fld>
            <a:endParaRPr lang="en-US" kern="1200">
              <a:solidFill>
                <a:prstClr val="white"/>
              </a:solidFill>
              <a:latin typeface="Calibri"/>
              <a:ea typeface="+mn-ea"/>
              <a:cs typeface="+mn-cs"/>
            </a:endParaRPr>
          </a:p>
        </p:txBody>
      </p:sp>
      <p:pic>
        <p:nvPicPr>
          <p:cNvPr id="5" name="Picture 4" descr="A graph with blue dots&#10;&#10;AI-generated content may be incorrect.">
            <a:extLst>
              <a:ext uri="{FF2B5EF4-FFF2-40B4-BE49-F238E27FC236}">
                <a16:creationId xmlns:a16="http://schemas.microsoft.com/office/drawing/2014/main" id="{A3BD157B-EDC9-6048-7136-DDB04B659FA6}"/>
              </a:ext>
            </a:extLst>
          </p:cNvPr>
          <p:cNvPicPr>
            <a:picLocks noChangeAspect="1"/>
          </p:cNvPicPr>
          <p:nvPr/>
        </p:nvPicPr>
        <p:blipFill>
          <a:blip r:embed="rId3"/>
          <a:stretch>
            <a:fillRect/>
          </a:stretch>
        </p:blipFill>
        <p:spPr>
          <a:xfrm>
            <a:off x="1973012" y="754314"/>
            <a:ext cx="8245976" cy="5656846"/>
          </a:xfrm>
          <a:prstGeom prst="rect">
            <a:avLst/>
          </a:prstGeom>
        </p:spPr>
      </p:pic>
    </p:spTree>
    <p:extLst>
      <p:ext uri="{BB962C8B-B14F-4D97-AF65-F5344CB8AC3E}">
        <p14:creationId xmlns:p14="http://schemas.microsoft.com/office/powerpoint/2010/main" val="279040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5DA73-20D5-118B-CF72-C6D47DB1EE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526B12B-6796-2DCC-ED64-597AAF49A0F6}"/>
              </a:ext>
            </a:extLst>
          </p:cNvPr>
          <p:cNvSpPr>
            <a:spLocks noGrp="1"/>
          </p:cNvSpPr>
          <p:nvPr>
            <p:ph type="title"/>
          </p:nvPr>
        </p:nvSpPr>
        <p:spPr>
          <a:xfrm>
            <a:off x="1807190" y="434367"/>
            <a:ext cx="8577617" cy="316081"/>
          </a:xfrm>
        </p:spPr>
        <p:txBody>
          <a:bodyPr/>
          <a:lstStyle/>
          <a:p>
            <a:pPr algn="ctr"/>
            <a:r>
              <a:rPr lang="en-US" sz="2800">
                <a:solidFill>
                  <a:srgbClr val="FF0000"/>
                </a:solidFill>
                <a:latin typeface="Georgia"/>
                <a:cs typeface="Times New Roman"/>
              </a:rPr>
              <a:t>Results</a:t>
            </a:r>
          </a:p>
        </p:txBody>
      </p:sp>
      <p:sp>
        <p:nvSpPr>
          <p:cNvPr id="4" name="Slide Number Placeholder 3">
            <a:extLst>
              <a:ext uri="{FF2B5EF4-FFF2-40B4-BE49-F238E27FC236}">
                <a16:creationId xmlns:a16="http://schemas.microsoft.com/office/drawing/2014/main" id="{55F03D84-699F-902A-F50A-82901E31EDFD}"/>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13</a:t>
            </a:fld>
            <a:endParaRPr lang="en-US" kern="1200">
              <a:solidFill>
                <a:prstClr val="white"/>
              </a:solidFill>
              <a:latin typeface="Calibri"/>
              <a:ea typeface="+mn-ea"/>
              <a:cs typeface="+mn-cs"/>
            </a:endParaRPr>
          </a:p>
        </p:txBody>
      </p:sp>
      <p:pic>
        <p:nvPicPr>
          <p:cNvPr id="2" name="Picture 1" descr="A graph with purple dots&#10;&#10;AI-generated content may be incorrect.">
            <a:extLst>
              <a:ext uri="{FF2B5EF4-FFF2-40B4-BE49-F238E27FC236}">
                <a16:creationId xmlns:a16="http://schemas.microsoft.com/office/drawing/2014/main" id="{56C1A9FB-0CD3-C522-978A-B02B0BA6384F}"/>
              </a:ext>
            </a:extLst>
          </p:cNvPr>
          <p:cNvPicPr>
            <a:picLocks noChangeAspect="1"/>
          </p:cNvPicPr>
          <p:nvPr/>
        </p:nvPicPr>
        <p:blipFill>
          <a:blip r:embed="rId3"/>
          <a:stretch>
            <a:fillRect/>
          </a:stretch>
        </p:blipFill>
        <p:spPr>
          <a:xfrm>
            <a:off x="1807995" y="754313"/>
            <a:ext cx="8562640" cy="5656846"/>
          </a:xfrm>
          <a:prstGeom prst="rect">
            <a:avLst/>
          </a:prstGeom>
        </p:spPr>
      </p:pic>
    </p:spTree>
    <p:extLst>
      <p:ext uri="{BB962C8B-B14F-4D97-AF65-F5344CB8AC3E}">
        <p14:creationId xmlns:p14="http://schemas.microsoft.com/office/powerpoint/2010/main" val="1826726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B14DF-314A-5AF9-E210-62FA23DA745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FC46261-954D-A3D1-0611-1C56C6780075}"/>
              </a:ext>
            </a:extLst>
          </p:cNvPr>
          <p:cNvSpPr>
            <a:spLocks noGrp="1"/>
          </p:cNvSpPr>
          <p:nvPr>
            <p:ph type="title"/>
          </p:nvPr>
        </p:nvSpPr>
        <p:spPr>
          <a:xfrm>
            <a:off x="1807190" y="434367"/>
            <a:ext cx="8577617" cy="316081"/>
          </a:xfrm>
        </p:spPr>
        <p:txBody>
          <a:bodyPr/>
          <a:lstStyle/>
          <a:p>
            <a:pPr algn="ctr"/>
            <a:r>
              <a:rPr lang="en-US" sz="2800">
                <a:solidFill>
                  <a:srgbClr val="FF0000"/>
                </a:solidFill>
                <a:latin typeface="Georgia"/>
                <a:cs typeface="Times New Roman"/>
              </a:rPr>
              <a:t>Results</a:t>
            </a:r>
          </a:p>
        </p:txBody>
      </p:sp>
      <p:sp>
        <p:nvSpPr>
          <p:cNvPr id="4" name="Slide Number Placeholder 3">
            <a:extLst>
              <a:ext uri="{FF2B5EF4-FFF2-40B4-BE49-F238E27FC236}">
                <a16:creationId xmlns:a16="http://schemas.microsoft.com/office/drawing/2014/main" id="{50405064-0514-E9A2-C163-7F2FF32DEBB5}"/>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14</a:t>
            </a:fld>
            <a:endParaRPr lang="en-US" kern="1200">
              <a:solidFill>
                <a:prstClr val="white"/>
              </a:solidFill>
              <a:latin typeface="Calibri"/>
              <a:ea typeface="+mn-ea"/>
              <a:cs typeface="+mn-cs"/>
            </a:endParaRPr>
          </a:p>
        </p:txBody>
      </p:sp>
      <p:pic>
        <p:nvPicPr>
          <p:cNvPr id="5" name="Picture 4" descr="A chart with red squares and numbers&#10;&#10;AI-generated content may be incorrect.">
            <a:extLst>
              <a:ext uri="{FF2B5EF4-FFF2-40B4-BE49-F238E27FC236}">
                <a16:creationId xmlns:a16="http://schemas.microsoft.com/office/drawing/2014/main" id="{2F99FA41-2D76-1616-2C51-AA2AF5A5A387}"/>
              </a:ext>
            </a:extLst>
          </p:cNvPr>
          <p:cNvPicPr>
            <a:picLocks noChangeAspect="1"/>
          </p:cNvPicPr>
          <p:nvPr/>
        </p:nvPicPr>
        <p:blipFill>
          <a:blip r:embed="rId3"/>
          <a:stretch>
            <a:fillRect/>
          </a:stretch>
        </p:blipFill>
        <p:spPr>
          <a:xfrm>
            <a:off x="2442508" y="748632"/>
            <a:ext cx="7320352" cy="5547895"/>
          </a:xfrm>
          <a:prstGeom prst="rect">
            <a:avLst/>
          </a:prstGeom>
        </p:spPr>
      </p:pic>
    </p:spTree>
    <p:extLst>
      <p:ext uri="{BB962C8B-B14F-4D97-AF65-F5344CB8AC3E}">
        <p14:creationId xmlns:p14="http://schemas.microsoft.com/office/powerpoint/2010/main" val="1381908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DB777-0D17-DEFC-EAFE-E2590B0B31C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634AC8-4054-0983-B3AB-384D8BE0C753}"/>
              </a:ext>
            </a:extLst>
          </p:cNvPr>
          <p:cNvSpPr>
            <a:spLocks noGrp="1"/>
          </p:cNvSpPr>
          <p:nvPr>
            <p:ph type="title"/>
          </p:nvPr>
        </p:nvSpPr>
        <p:spPr>
          <a:xfrm>
            <a:off x="1807190" y="434367"/>
            <a:ext cx="8577617" cy="316081"/>
          </a:xfrm>
        </p:spPr>
        <p:txBody>
          <a:bodyPr/>
          <a:lstStyle/>
          <a:p>
            <a:pPr algn="ctr"/>
            <a:r>
              <a:rPr lang="en-US" sz="2800">
                <a:solidFill>
                  <a:srgbClr val="FF0000"/>
                </a:solidFill>
                <a:latin typeface="Georgia"/>
                <a:cs typeface="Times New Roman"/>
              </a:rPr>
              <a:t>Results</a:t>
            </a:r>
          </a:p>
        </p:txBody>
      </p:sp>
      <p:sp>
        <p:nvSpPr>
          <p:cNvPr id="4" name="Slide Number Placeholder 3">
            <a:extLst>
              <a:ext uri="{FF2B5EF4-FFF2-40B4-BE49-F238E27FC236}">
                <a16:creationId xmlns:a16="http://schemas.microsoft.com/office/drawing/2014/main" id="{29A7612C-416B-58FD-7D98-DD6FDDAA1E23}"/>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15</a:t>
            </a:fld>
            <a:endParaRPr lang="en-US" kern="1200">
              <a:solidFill>
                <a:prstClr val="white"/>
              </a:solidFill>
              <a:latin typeface="Calibri"/>
              <a:ea typeface="+mn-ea"/>
              <a:cs typeface="+mn-cs"/>
            </a:endParaRPr>
          </a:p>
        </p:txBody>
      </p:sp>
      <p:pic>
        <p:nvPicPr>
          <p:cNvPr id="2" name="Picture 1" descr="A diagram of a cluster&#10;&#10;AI-generated content may be incorrect.">
            <a:extLst>
              <a:ext uri="{FF2B5EF4-FFF2-40B4-BE49-F238E27FC236}">
                <a16:creationId xmlns:a16="http://schemas.microsoft.com/office/drawing/2014/main" id="{2A6C72FE-0C04-45CC-19FE-EFD7D5DB6A3F}"/>
              </a:ext>
            </a:extLst>
          </p:cNvPr>
          <p:cNvPicPr>
            <a:picLocks noChangeAspect="1"/>
          </p:cNvPicPr>
          <p:nvPr/>
        </p:nvPicPr>
        <p:blipFill>
          <a:blip r:embed="rId3"/>
          <a:stretch>
            <a:fillRect/>
          </a:stretch>
        </p:blipFill>
        <p:spPr>
          <a:xfrm>
            <a:off x="2605840" y="748631"/>
            <a:ext cx="6993689" cy="5681579"/>
          </a:xfrm>
          <a:prstGeom prst="rect">
            <a:avLst/>
          </a:prstGeom>
        </p:spPr>
      </p:pic>
    </p:spTree>
    <p:extLst>
      <p:ext uri="{BB962C8B-B14F-4D97-AF65-F5344CB8AC3E}">
        <p14:creationId xmlns:p14="http://schemas.microsoft.com/office/powerpoint/2010/main" val="1610676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4ACCE-9541-B1D0-7528-2B5DCF39773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9D26F-CC3D-928B-2CCB-B51DF34DF436}"/>
              </a:ext>
            </a:extLst>
          </p:cNvPr>
          <p:cNvSpPr>
            <a:spLocks noGrp="1"/>
          </p:cNvSpPr>
          <p:nvPr>
            <p:ph type="title"/>
          </p:nvPr>
        </p:nvSpPr>
        <p:spPr>
          <a:xfrm>
            <a:off x="1807190" y="434367"/>
            <a:ext cx="8577617" cy="316081"/>
          </a:xfrm>
        </p:spPr>
        <p:txBody>
          <a:bodyPr/>
          <a:lstStyle/>
          <a:p>
            <a:pPr algn="ctr"/>
            <a:r>
              <a:rPr lang="en-US" sz="2800">
                <a:solidFill>
                  <a:srgbClr val="FF0000"/>
                </a:solidFill>
                <a:latin typeface="Georgia"/>
                <a:cs typeface="Times New Roman"/>
              </a:rPr>
              <a:t>Results</a:t>
            </a:r>
          </a:p>
        </p:txBody>
      </p:sp>
      <p:sp>
        <p:nvSpPr>
          <p:cNvPr id="4" name="Slide Number Placeholder 3">
            <a:extLst>
              <a:ext uri="{FF2B5EF4-FFF2-40B4-BE49-F238E27FC236}">
                <a16:creationId xmlns:a16="http://schemas.microsoft.com/office/drawing/2014/main" id="{8E89701B-B257-33B8-DBFF-B23B6345645B}"/>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16</a:t>
            </a:fld>
            <a:endParaRPr lang="en-US" kern="1200">
              <a:solidFill>
                <a:prstClr val="white"/>
              </a:solidFill>
              <a:latin typeface="Calibri"/>
              <a:ea typeface="+mn-ea"/>
              <a:cs typeface="+mn-cs"/>
            </a:endParaRPr>
          </a:p>
        </p:txBody>
      </p:sp>
      <p:pic>
        <p:nvPicPr>
          <p:cNvPr id="5" name="Picture 4" descr="A graph of a graph of a graph of a graph of a graph of a graph of a graph of a graph of a graph of a graph of a graph of a graph of a graph of&#10;&#10;AI-generated content may be incorrect.">
            <a:extLst>
              <a:ext uri="{FF2B5EF4-FFF2-40B4-BE49-F238E27FC236}">
                <a16:creationId xmlns:a16="http://schemas.microsoft.com/office/drawing/2014/main" id="{86FE0537-62FC-AD2C-9277-2E1BD1F9A036}"/>
              </a:ext>
            </a:extLst>
          </p:cNvPr>
          <p:cNvPicPr>
            <a:picLocks noChangeAspect="1"/>
          </p:cNvPicPr>
          <p:nvPr/>
        </p:nvPicPr>
        <p:blipFill>
          <a:blip r:embed="rId3"/>
          <a:stretch>
            <a:fillRect/>
          </a:stretch>
        </p:blipFill>
        <p:spPr>
          <a:xfrm>
            <a:off x="1504639" y="748632"/>
            <a:ext cx="9182723" cy="5467685"/>
          </a:xfrm>
          <a:prstGeom prst="rect">
            <a:avLst/>
          </a:prstGeom>
        </p:spPr>
      </p:pic>
    </p:spTree>
    <p:extLst>
      <p:ext uri="{BB962C8B-B14F-4D97-AF65-F5344CB8AC3E}">
        <p14:creationId xmlns:p14="http://schemas.microsoft.com/office/powerpoint/2010/main" val="1373312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B5CC5-2264-0203-95A0-E2970887A2E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863492-6459-637B-928D-A4EE840AA20F}"/>
              </a:ext>
            </a:extLst>
          </p:cNvPr>
          <p:cNvSpPr>
            <a:spLocks noGrp="1"/>
          </p:cNvSpPr>
          <p:nvPr>
            <p:ph type="title"/>
          </p:nvPr>
        </p:nvSpPr>
        <p:spPr>
          <a:xfrm>
            <a:off x="1807190" y="434367"/>
            <a:ext cx="8577617" cy="316081"/>
          </a:xfrm>
        </p:spPr>
        <p:txBody>
          <a:bodyPr/>
          <a:lstStyle/>
          <a:p>
            <a:pPr algn="ctr"/>
            <a:r>
              <a:rPr lang="en-US" sz="2800">
                <a:solidFill>
                  <a:srgbClr val="FF0000"/>
                </a:solidFill>
                <a:latin typeface="Georgia"/>
                <a:cs typeface="Times New Roman"/>
              </a:rPr>
              <a:t>Results</a:t>
            </a:r>
          </a:p>
        </p:txBody>
      </p:sp>
      <p:sp>
        <p:nvSpPr>
          <p:cNvPr id="4" name="Slide Number Placeholder 3">
            <a:extLst>
              <a:ext uri="{FF2B5EF4-FFF2-40B4-BE49-F238E27FC236}">
                <a16:creationId xmlns:a16="http://schemas.microsoft.com/office/drawing/2014/main" id="{E5C9A831-D16E-B3C0-18D1-77EC88F534D1}"/>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17</a:t>
            </a:fld>
            <a:endParaRPr lang="en-US" kern="1200">
              <a:solidFill>
                <a:prstClr val="white"/>
              </a:solidFill>
              <a:latin typeface="Calibri"/>
              <a:ea typeface="+mn-ea"/>
              <a:cs typeface="+mn-cs"/>
            </a:endParaRPr>
          </a:p>
        </p:txBody>
      </p:sp>
      <p:pic>
        <p:nvPicPr>
          <p:cNvPr id="5" name="Picture 4" descr="A graph of different colored bars&#10;&#10;AI-generated content may be incorrect.">
            <a:extLst>
              <a:ext uri="{FF2B5EF4-FFF2-40B4-BE49-F238E27FC236}">
                <a16:creationId xmlns:a16="http://schemas.microsoft.com/office/drawing/2014/main" id="{6496ADC1-98B3-375F-D88C-6DA6091F5FCB}"/>
              </a:ext>
            </a:extLst>
          </p:cNvPr>
          <p:cNvPicPr>
            <a:picLocks noChangeAspect="1"/>
          </p:cNvPicPr>
          <p:nvPr/>
        </p:nvPicPr>
        <p:blipFill>
          <a:blip r:embed="rId3"/>
          <a:stretch>
            <a:fillRect/>
          </a:stretch>
        </p:blipFill>
        <p:spPr>
          <a:xfrm>
            <a:off x="2008906" y="912395"/>
            <a:ext cx="8159480" cy="5026527"/>
          </a:xfrm>
          <a:prstGeom prst="rect">
            <a:avLst/>
          </a:prstGeom>
        </p:spPr>
      </p:pic>
    </p:spTree>
    <p:extLst>
      <p:ext uri="{BB962C8B-B14F-4D97-AF65-F5344CB8AC3E}">
        <p14:creationId xmlns:p14="http://schemas.microsoft.com/office/powerpoint/2010/main" val="1915566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44497-0330-31B0-CFE0-AC2FA3994F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363A52A-F835-C0E2-C9C2-ED74F80D21D3}"/>
              </a:ext>
            </a:extLst>
          </p:cNvPr>
          <p:cNvSpPr>
            <a:spLocks noGrp="1"/>
          </p:cNvSpPr>
          <p:nvPr>
            <p:ph type="title"/>
          </p:nvPr>
        </p:nvSpPr>
        <p:spPr>
          <a:xfrm>
            <a:off x="1807190" y="434367"/>
            <a:ext cx="8577617" cy="316081"/>
          </a:xfrm>
        </p:spPr>
        <p:txBody>
          <a:bodyPr/>
          <a:lstStyle/>
          <a:p>
            <a:pPr algn="ctr"/>
            <a:r>
              <a:rPr lang="en-US" sz="2800">
                <a:solidFill>
                  <a:srgbClr val="FF0000"/>
                </a:solidFill>
                <a:latin typeface="Georgia"/>
                <a:cs typeface="Times New Roman"/>
              </a:rPr>
              <a:t>Results</a:t>
            </a:r>
          </a:p>
        </p:txBody>
      </p:sp>
      <p:sp>
        <p:nvSpPr>
          <p:cNvPr id="4" name="Slide Number Placeholder 3">
            <a:extLst>
              <a:ext uri="{FF2B5EF4-FFF2-40B4-BE49-F238E27FC236}">
                <a16:creationId xmlns:a16="http://schemas.microsoft.com/office/drawing/2014/main" id="{527DFD68-266E-9A01-BE37-D5732F079515}"/>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18</a:t>
            </a:fld>
            <a:endParaRPr lang="en-US" kern="1200">
              <a:solidFill>
                <a:prstClr val="white"/>
              </a:solidFill>
              <a:latin typeface="Calibri"/>
              <a:ea typeface="+mn-ea"/>
              <a:cs typeface="+mn-cs"/>
            </a:endParaRPr>
          </a:p>
        </p:txBody>
      </p:sp>
      <p:pic>
        <p:nvPicPr>
          <p:cNvPr id="6" name="Picture 5" descr="A graph of different colored bars&#10;&#10;AI-generated content may be incorrect.">
            <a:extLst>
              <a:ext uri="{FF2B5EF4-FFF2-40B4-BE49-F238E27FC236}">
                <a16:creationId xmlns:a16="http://schemas.microsoft.com/office/drawing/2014/main" id="{A9C6F6B5-2A1C-0D3E-AD36-67ADE1944EC4}"/>
              </a:ext>
            </a:extLst>
          </p:cNvPr>
          <p:cNvPicPr>
            <a:picLocks noChangeAspect="1"/>
          </p:cNvPicPr>
          <p:nvPr/>
        </p:nvPicPr>
        <p:blipFill>
          <a:blip r:embed="rId3"/>
          <a:stretch>
            <a:fillRect/>
          </a:stretch>
        </p:blipFill>
        <p:spPr>
          <a:xfrm>
            <a:off x="1722156" y="775367"/>
            <a:ext cx="8747691" cy="5320633"/>
          </a:xfrm>
          <a:prstGeom prst="rect">
            <a:avLst/>
          </a:prstGeom>
        </p:spPr>
      </p:pic>
    </p:spTree>
    <p:extLst>
      <p:ext uri="{BB962C8B-B14F-4D97-AF65-F5344CB8AC3E}">
        <p14:creationId xmlns:p14="http://schemas.microsoft.com/office/powerpoint/2010/main" val="3319937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A6358-A8F5-9387-FDA2-AC73B0A4A88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537492-B0C2-0DD8-EB90-BDCE113A668E}"/>
              </a:ext>
            </a:extLst>
          </p:cNvPr>
          <p:cNvSpPr>
            <a:spLocks noGrp="1"/>
          </p:cNvSpPr>
          <p:nvPr>
            <p:ph type="title"/>
          </p:nvPr>
        </p:nvSpPr>
        <p:spPr>
          <a:xfrm>
            <a:off x="1807190" y="434367"/>
            <a:ext cx="8577617" cy="316081"/>
          </a:xfrm>
        </p:spPr>
        <p:txBody>
          <a:bodyPr/>
          <a:lstStyle/>
          <a:p>
            <a:pPr algn="ctr"/>
            <a:r>
              <a:rPr lang="en-US" sz="2800">
                <a:solidFill>
                  <a:srgbClr val="FF0000"/>
                </a:solidFill>
                <a:latin typeface="Georgia"/>
                <a:cs typeface="Times New Roman"/>
              </a:rPr>
              <a:t>Results</a:t>
            </a:r>
          </a:p>
        </p:txBody>
      </p:sp>
      <p:sp>
        <p:nvSpPr>
          <p:cNvPr id="4" name="Slide Number Placeholder 3">
            <a:extLst>
              <a:ext uri="{FF2B5EF4-FFF2-40B4-BE49-F238E27FC236}">
                <a16:creationId xmlns:a16="http://schemas.microsoft.com/office/drawing/2014/main" id="{2A11AF31-4083-B1C4-9673-6CF4D559B781}"/>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19</a:t>
            </a:fld>
            <a:endParaRPr lang="en-US" kern="1200">
              <a:solidFill>
                <a:prstClr val="white"/>
              </a:solidFill>
              <a:latin typeface="Calibri"/>
              <a:ea typeface="+mn-ea"/>
              <a:cs typeface="+mn-cs"/>
            </a:endParaRPr>
          </a:p>
        </p:txBody>
      </p:sp>
      <p:pic>
        <p:nvPicPr>
          <p:cNvPr id="2" name="Picture 1" descr="A screenshot of a graph&#10;&#10;AI-generated content may be incorrect.">
            <a:extLst>
              <a:ext uri="{FF2B5EF4-FFF2-40B4-BE49-F238E27FC236}">
                <a16:creationId xmlns:a16="http://schemas.microsoft.com/office/drawing/2014/main" id="{93ED9CC5-D1C3-9EDD-9AD4-719105EAA5F9}"/>
              </a:ext>
            </a:extLst>
          </p:cNvPr>
          <p:cNvPicPr>
            <a:picLocks noChangeAspect="1"/>
          </p:cNvPicPr>
          <p:nvPr/>
        </p:nvPicPr>
        <p:blipFill>
          <a:blip r:embed="rId3"/>
          <a:stretch>
            <a:fillRect/>
          </a:stretch>
        </p:blipFill>
        <p:spPr>
          <a:xfrm>
            <a:off x="219075" y="924593"/>
            <a:ext cx="11753850" cy="5543550"/>
          </a:xfrm>
          <a:prstGeom prst="rect">
            <a:avLst/>
          </a:prstGeom>
        </p:spPr>
      </p:pic>
    </p:spTree>
    <p:extLst>
      <p:ext uri="{BB962C8B-B14F-4D97-AF65-F5344CB8AC3E}">
        <p14:creationId xmlns:p14="http://schemas.microsoft.com/office/powerpoint/2010/main" val="561699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1BCD9-A272-9397-46F9-A1E7D82C045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AE18864-CF1A-573C-AFFC-0740C1B43C50}"/>
              </a:ext>
            </a:extLst>
          </p:cNvPr>
          <p:cNvSpPr>
            <a:spLocks noGrp="1"/>
          </p:cNvSpPr>
          <p:nvPr>
            <p:ph type="title"/>
          </p:nvPr>
        </p:nvSpPr>
        <p:spPr>
          <a:xfrm>
            <a:off x="1807190" y="434367"/>
            <a:ext cx="8577617" cy="316081"/>
          </a:xfrm>
        </p:spPr>
        <p:txBody>
          <a:bodyPr/>
          <a:lstStyle/>
          <a:p>
            <a:pPr algn="ctr"/>
            <a:r>
              <a:rPr lang="en-US" sz="2800">
                <a:solidFill>
                  <a:srgbClr val="FF0000"/>
                </a:solidFill>
                <a:latin typeface="Georgia"/>
                <a:cs typeface="Times New Roman"/>
              </a:rPr>
              <a:t>Results</a:t>
            </a:r>
          </a:p>
        </p:txBody>
      </p:sp>
      <p:sp>
        <p:nvSpPr>
          <p:cNvPr id="4" name="Slide Number Placeholder 3">
            <a:extLst>
              <a:ext uri="{FF2B5EF4-FFF2-40B4-BE49-F238E27FC236}">
                <a16:creationId xmlns:a16="http://schemas.microsoft.com/office/drawing/2014/main" id="{80EC4C35-60E5-B858-A33E-22BE0FC64C2D}"/>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20</a:t>
            </a:fld>
            <a:endParaRPr lang="en-US" kern="1200">
              <a:solidFill>
                <a:prstClr val="white"/>
              </a:solidFill>
              <a:latin typeface="Calibri"/>
              <a:ea typeface="+mn-ea"/>
              <a:cs typeface="+mn-cs"/>
            </a:endParaRPr>
          </a:p>
        </p:txBody>
      </p:sp>
      <p:pic>
        <p:nvPicPr>
          <p:cNvPr id="2" name="Picture 1" descr="A graph of a number of ratings per movie&#10;&#10;AI-generated content may be incorrect.">
            <a:extLst>
              <a:ext uri="{FF2B5EF4-FFF2-40B4-BE49-F238E27FC236}">
                <a16:creationId xmlns:a16="http://schemas.microsoft.com/office/drawing/2014/main" id="{A3108CE7-A095-1CE5-9A83-422E221E246A}"/>
              </a:ext>
            </a:extLst>
          </p:cNvPr>
          <p:cNvPicPr>
            <a:picLocks noChangeAspect="1"/>
          </p:cNvPicPr>
          <p:nvPr/>
        </p:nvPicPr>
        <p:blipFill>
          <a:blip r:embed="rId3"/>
          <a:stretch>
            <a:fillRect/>
          </a:stretch>
        </p:blipFill>
        <p:spPr>
          <a:xfrm>
            <a:off x="2281949" y="748632"/>
            <a:ext cx="7628101" cy="5400843"/>
          </a:xfrm>
          <a:prstGeom prst="rect">
            <a:avLst/>
          </a:prstGeom>
        </p:spPr>
      </p:pic>
    </p:spTree>
    <p:extLst>
      <p:ext uri="{BB962C8B-B14F-4D97-AF65-F5344CB8AC3E}">
        <p14:creationId xmlns:p14="http://schemas.microsoft.com/office/powerpoint/2010/main" val="771515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186EE-B614-C9A5-C36C-B7A01081F5E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D7F1A9E-C6CB-BA8C-7B92-3FD485272EDA}"/>
              </a:ext>
            </a:extLst>
          </p:cNvPr>
          <p:cNvSpPr>
            <a:spLocks noGrp="1"/>
          </p:cNvSpPr>
          <p:nvPr>
            <p:ph type="title"/>
          </p:nvPr>
        </p:nvSpPr>
        <p:spPr>
          <a:xfrm>
            <a:off x="1807190" y="434367"/>
            <a:ext cx="8577617" cy="316081"/>
          </a:xfrm>
        </p:spPr>
        <p:txBody>
          <a:bodyPr/>
          <a:lstStyle/>
          <a:p>
            <a:pPr algn="ctr"/>
            <a:r>
              <a:rPr lang="en-US" sz="2800">
                <a:solidFill>
                  <a:srgbClr val="FF0000"/>
                </a:solidFill>
                <a:latin typeface="Georgia"/>
                <a:cs typeface="Times New Roman"/>
              </a:rPr>
              <a:t>Results</a:t>
            </a:r>
          </a:p>
        </p:txBody>
      </p:sp>
      <p:sp>
        <p:nvSpPr>
          <p:cNvPr id="4" name="Slide Number Placeholder 3">
            <a:extLst>
              <a:ext uri="{FF2B5EF4-FFF2-40B4-BE49-F238E27FC236}">
                <a16:creationId xmlns:a16="http://schemas.microsoft.com/office/drawing/2014/main" id="{D78ED932-9494-507C-A04E-2515E13C7CF6}"/>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21</a:t>
            </a:fld>
            <a:endParaRPr lang="en-US" kern="1200">
              <a:solidFill>
                <a:prstClr val="white"/>
              </a:solidFill>
              <a:latin typeface="Calibri"/>
              <a:ea typeface="+mn-ea"/>
              <a:cs typeface="+mn-cs"/>
            </a:endParaRPr>
          </a:p>
        </p:txBody>
      </p:sp>
      <p:pic>
        <p:nvPicPr>
          <p:cNvPr id="2" name="Picture 1" descr="A graph with blue and orange bars&#10;&#10;AI-generated content may be incorrect.">
            <a:extLst>
              <a:ext uri="{FF2B5EF4-FFF2-40B4-BE49-F238E27FC236}">
                <a16:creationId xmlns:a16="http://schemas.microsoft.com/office/drawing/2014/main" id="{7D3933E1-393C-1E51-0A17-947E13571616}"/>
              </a:ext>
            </a:extLst>
          </p:cNvPr>
          <p:cNvPicPr>
            <a:picLocks noChangeAspect="1"/>
          </p:cNvPicPr>
          <p:nvPr/>
        </p:nvPicPr>
        <p:blipFill>
          <a:blip r:embed="rId3"/>
          <a:stretch>
            <a:fillRect/>
          </a:stretch>
        </p:blipFill>
        <p:spPr>
          <a:xfrm>
            <a:off x="2210301" y="748632"/>
            <a:ext cx="7758029" cy="5494422"/>
          </a:xfrm>
          <a:prstGeom prst="rect">
            <a:avLst/>
          </a:prstGeom>
        </p:spPr>
      </p:pic>
    </p:spTree>
    <p:extLst>
      <p:ext uri="{BB962C8B-B14F-4D97-AF65-F5344CB8AC3E}">
        <p14:creationId xmlns:p14="http://schemas.microsoft.com/office/powerpoint/2010/main" val="3088529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CF6E5-A40A-6123-AF59-92F71214A5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B401D4-51EE-B15B-ACF0-F2EF0F3B683D}"/>
              </a:ext>
            </a:extLst>
          </p:cNvPr>
          <p:cNvSpPr>
            <a:spLocks noGrp="1"/>
          </p:cNvSpPr>
          <p:nvPr>
            <p:ph type="title"/>
          </p:nvPr>
        </p:nvSpPr>
        <p:spPr>
          <a:xfrm>
            <a:off x="1807190" y="434367"/>
            <a:ext cx="8577617" cy="316081"/>
          </a:xfrm>
        </p:spPr>
        <p:txBody>
          <a:bodyPr/>
          <a:lstStyle/>
          <a:p>
            <a:pPr algn="ctr"/>
            <a:r>
              <a:rPr lang="en-US" sz="2800">
                <a:solidFill>
                  <a:srgbClr val="FF0000"/>
                </a:solidFill>
                <a:latin typeface="Georgia"/>
                <a:cs typeface="Times New Roman"/>
              </a:rPr>
              <a:t>Results</a:t>
            </a:r>
          </a:p>
        </p:txBody>
      </p:sp>
      <p:sp>
        <p:nvSpPr>
          <p:cNvPr id="4" name="Slide Number Placeholder 3">
            <a:extLst>
              <a:ext uri="{FF2B5EF4-FFF2-40B4-BE49-F238E27FC236}">
                <a16:creationId xmlns:a16="http://schemas.microsoft.com/office/drawing/2014/main" id="{0F6D0ADE-6A51-E697-F1FE-7E81B6A1B4FD}"/>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22</a:t>
            </a:fld>
            <a:endParaRPr lang="en-US" kern="1200">
              <a:solidFill>
                <a:prstClr val="white"/>
              </a:solidFill>
              <a:latin typeface="Calibri"/>
              <a:ea typeface="+mn-ea"/>
              <a:cs typeface="+mn-cs"/>
            </a:endParaRPr>
          </a:p>
        </p:txBody>
      </p:sp>
      <p:pic>
        <p:nvPicPr>
          <p:cNvPr id="2" name="Picture 1" descr="A bar graph with blue and white stripes&#10;&#10;AI-generated content may be incorrect.">
            <a:extLst>
              <a:ext uri="{FF2B5EF4-FFF2-40B4-BE49-F238E27FC236}">
                <a16:creationId xmlns:a16="http://schemas.microsoft.com/office/drawing/2014/main" id="{5679B40D-D866-7B48-97B4-86DBBA6E205A}"/>
              </a:ext>
            </a:extLst>
          </p:cNvPr>
          <p:cNvPicPr>
            <a:picLocks noChangeAspect="1"/>
          </p:cNvPicPr>
          <p:nvPr/>
        </p:nvPicPr>
        <p:blipFill>
          <a:blip r:embed="rId3"/>
          <a:stretch>
            <a:fillRect/>
          </a:stretch>
        </p:blipFill>
        <p:spPr>
          <a:xfrm>
            <a:off x="1446797" y="748632"/>
            <a:ext cx="9298406" cy="5534527"/>
          </a:xfrm>
          <a:prstGeom prst="rect">
            <a:avLst/>
          </a:prstGeom>
        </p:spPr>
      </p:pic>
    </p:spTree>
    <p:extLst>
      <p:ext uri="{BB962C8B-B14F-4D97-AF65-F5344CB8AC3E}">
        <p14:creationId xmlns:p14="http://schemas.microsoft.com/office/powerpoint/2010/main" val="3954056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0D5C-8AD1-BB39-0398-F0C298D803C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7B09D7-3C8B-0673-5790-C8A60BE9DCF0}"/>
              </a:ext>
            </a:extLst>
          </p:cNvPr>
          <p:cNvSpPr>
            <a:spLocks noGrp="1"/>
          </p:cNvSpPr>
          <p:nvPr>
            <p:ph type="title"/>
          </p:nvPr>
        </p:nvSpPr>
        <p:spPr>
          <a:xfrm>
            <a:off x="1807190" y="434367"/>
            <a:ext cx="8577617" cy="316081"/>
          </a:xfrm>
        </p:spPr>
        <p:txBody>
          <a:bodyPr/>
          <a:lstStyle/>
          <a:p>
            <a:pPr algn="ctr"/>
            <a:r>
              <a:rPr lang="en-US" sz="2800">
                <a:solidFill>
                  <a:srgbClr val="FF0000"/>
                </a:solidFill>
                <a:latin typeface="Georgia"/>
                <a:cs typeface="Times New Roman"/>
              </a:rPr>
              <a:t>Results</a:t>
            </a:r>
          </a:p>
        </p:txBody>
      </p:sp>
      <p:sp>
        <p:nvSpPr>
          <p:cNvPr id="4" name="Slide Number Placeholder 3">
            <a:extLst>
              <a:ext uri="{FF2B5EF4-FFF2-40B4-BE49-F238E27FC236}">
                <a16:creationId xmlns:a16="http://schemas.microsoft.com/office/drawing/2014/main" id="{189B5B3A-7B4C-506F-BC88-DB77D4E342F1}"/>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23</a:t>
            </a:fld>
            <a:endParaRPr lang="en-US" kern="1200">
              <a:solidFill>
                <a:prstClr val="white"/>
              </a:solidFill>
              <a:latin typeface="Calibri"/>
              <a:ea typeface="+mn-ea"/>
              <a:cs typeface="+mn-cs"/>
            </a:endParaRPr>
          </a:p>
        </p:txBody>
      </p:sp>
      <p:pic>
        <p:nvPicPr>
          <p:cNvPr id="5" name="Picture 4">
            <a:extLst>
              <a:ext uri="{FF2B5EF4-FFF2-40B4-BE49-F238E27FC236}">
                <a16:creationId xmlns:a16="http://schemas.microsoft.com/office/drawing/2014/main" id="{5AFE266F-69D3-0700-E490-B8FA6C23F40B}"/>
              </a:ext>
            </a:extLst>
          </p:cNvPr>
          <p:cNvPicPr>
            <a:picLocks noChangeAspect="1"/>
          </p:cNvPicPr>
          <p:nvPr/>
        </p:nvPicPr>
        <p:blipFill>
          <a:blip r:embed="rId3"/>
          <a:stretch>
            <a:fillRect/>
          </a:stretch>
        </p:blipFill>
        <p:spPr>
          <a:xfrm>
            <a:off x="0" y="1173832"/>
            <a:ext cx="12192000" cy="4510335"/>
          </a:xfrm>
          <a:prstGeom prst="rect">
            <a:avLst/>
          </a:prstGeom>
        </p:spPr>
      </p:pic>
    </p:spTree>
    <p:extLst>
      <p:ext uri="{BB962C8B-B14F-4D97-AF65-F5344CB8AC3E}">
        <p14:creationId xmlns:p14="http://schemas.microsoft.com/office/powerpoint/2010/main" val="6031259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49936-6558-B948-D38D-32EE474B523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D45428-6D2E-DA14-D5C3-149C3FDD3B07}"/>
              </a:ext>
            </a:extLst>
          </p:cNvPr>
          <p:cNvSpPr>
            <a:spLocks noGrp="1"/>
          </p:cNvSpPr>
          <p:nvPr>
            <p:ph type="title"/>
          </p:nvPr>
        </p:nvSpPr>
        <p:spPr>
          <a:xfrm>
            <a:off x="1807190" y="434367"/>
            <a:ext cx="8577617" cy="316081"/>
          </a:xfrm>
        </p:spPr>
        <p:txBody>
          <a:bodyPr/>
          <a:lstStyle/>
          <a:p>
            <a:pPr algn="ctr"/>
            <a:r>
              <a:rPr lang="en-US" sz="2800">
                <a:solidFill>
                  <a:srgbClr val="FF0000"/>
                </a:solidFill>
                <a:latin typeface="Georgia"/>
                <a:cs typeface="Times New Roman"/>
              </a:rPr>
              <a:t>Results</a:t>
            </a:r>
          </a:p>
        </p:txBody>
      </p:sp>
      <p:sp>
        <p:nvSpPr>
          <p:cNvPr id="4" name="Slide Number Placeholder 3">
            <a:extLst>
              <a:ext uri="{FF2B5EF4-FFF2-40B4-BE49-F238E27FC236}">
                <a16:creationId xmlns:a16="http://schemas.microsoft.com/office/drawing/2014/main" id="{08E3FEDB-9025-1ECE-3685-319DB1FBC1C2}"/>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24</a:t>
            </a:fld>
            <a:endParaRPr lang="en-US" kern="1200">
              <a:solidFill>
                <a:prstClr val="white"/>
              </a:solidFill>
              <a:latin typeface="Calibri"/>
              <a:ea typeface="+mn-ea"/>
              <a:cs typeface="+mn-cs"/>
            </a:endParaRPr>
          </a:p>
        </p:txBody>
      </p:sp>
      <p:pic>
        <p:nvPicPr>
          <p:cNvPr id="2" name="Picture 1">
            <a:extLst>
              <a:ext uri="{FF2B5EF4-FFF2-40B4-BE49-F238E27FC236}">
                <a16:creationId xmlns:a16="http://schemas.microsoft.com/office/drawing/2014/main" id="{25BD5DA5-F9F6-5163-FCB9-ED6AC8FC1AF6}"/>
              </a:ext>
            </a:extLst>
          </p:cNvPr>
          <p:cNvPicPr>
            <a:picLocks noChangeAspect="1"/>
          </p:cNvPicPr>
          <p:nvPr/>
        </p:nvPicPr>
        <p:blipFill>
          <a:blip r:embed="rId3"/>
          <a:stretch>
            <a:fillRect/>
          </a:stretch>
        </p:blipFill>
        <p:spPr>
          <a:xfrm>
            <a:off x="0" y="1545384"/>
            <a:ext cx="12192000" cy="3767232"/>
          </a:xfrm>
          <a:prstGeom prst="rect">
            <a:avLst/>
          </a:prstGeom>
        </p:spPr>
      </p:pic>
    </p:spTree>
    <p:extLst>
      <p:ext uri="{BB962C8B-B14F-4D97-AF65-F5344CB8AC3E}">
        <p14:creationId xmlns:p14="http://schemas.microsoft.com/office/powerpoint/2010/main" val="29704701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D5C31-15DD-7689-DB20-2F9BC8332B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34A9D6C-4BA7-FFF0-059F-8838B217A7A4}"/>
              </a:ext>
            </a:extLst>
          </p:cNvPr>
          <p:cNvSpPr>
            <a:spLocks noGrp="1"/>
          </p:cNvSpPr>
          <p:nvPr>
            <p:ph type="title"/>
          </p:nvPr>
        </p:nvSpPr>
        <p:spPr>
          <a:xfrm>
            <a:off x="1630494" y="787758"/>
            <a:ext cx="8577617" cy="316081"/>
          </a:xfrm>
        </p:spPr>
        <p:txBody>
          <a:bodyPr/>
          <a:lstStyle/>
          <a:p>
            <a:pPr algn="ctr"/>
            <a:r>
              <a:rPr lang="en-US" sz="2800">
                <a:solidFill>
                  <a:srgbClr val="FF0000"/>
                </a:solidFill>
                <a:latin typeface="Georgia"/>
                <a:cs typeface="Times New Roman"/>
              </a:rPr>
              <a:t>Conclusion and Future scope</a:t>
            </a:r>
          </a:p>
        </p:txBody>
      </p:sp>
      <p:sp>
        <p:nvSpPr>
          <p:cNvPr id="4" name="Slide Number Placeholder 3">
            <a:extLst>
              <a:ext uri="{FF2B5EF4-FFF2-40B4-BE49-F238E27FC236}">
                <a16:creationId xmlns:a16="http://schemas.microsoft.com/office/drawing/2014/main" id="{CCE11E7F-BC88-7DFA-C3D7-98202F55CBCF}"/>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25</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EEDE34D0-B450-FCA8-02A3-66A56017EB44}"/>
              </a:ext>
            </a:extLst>
          </p:cNvPr>
          <p:cNvSpPr txBox="1"/>
          <p:nvPr/>
        </p:nvSpPr>
        <p:spPr>
          <a:xfrm>
            <a:off x="1405119" y="1709227"/>
            <a:ext cx="9675418"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This project successfully developed a comprehensive churn prediction framework by integrating multi-source user data, engineering meaningful behavioral features, applying clustering for segmentation, and using ensemble machine learning models to identify at-risk users with high accuracy. The analysis revealed that declining engagement, long periods of inactivity, negative interactions, and low recommendation acceptance are strong indicators of churn, while higher-tier and consistently active users are less likely to leave. The final </a:t>
            </a:r>
            <a:r>
              <a:rPr lang="en-US" sz="2000" err="1"/>
              <a:t>LightGBM</a:t>
            </a:r>
            <a:r>
              <a:rPr lang="en-US" sz="2000"/>
              <a:t> model provided superior performance, and SHAP explainability helped uncover actionable insights that can support targeted retention strategies. Looking ahead, the system can be enhanced by incorporating real-time session analytics, integrating recommendation feedback loops, adopting reinforcement learning for personalized retention, and performing A/B-tested interventions to continuously refine business outcomes and user satisfaction.</a:t>
            </a:r>
            <a:endParaRPr lang="en-US"/>
          </a:p>
        </p:txBody>
      </p:sp>
    </p:spTree>
    <p:extLst>
      <p:ext uri="{BB962C8B-B14F-4D97-AF65-F5344CB8AC3E}">
        <p14:creationId xmlns:p14="http://schemas.microsoft.com/office/powerpoint/2010/main" val="27447343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B3A28-F7DE-E30C-EE7D-31177B0AE1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81B30EA-D8FE-2299-6B2F-ED6CDD82ED1F}"/>
              </a:ext>
            </a:extLst>
          </p:cNvPr>
          <p:cNvSpPr>
            <a:spLocks noGrp="1"/>
          </p:cNvSpPr>
          <p:nvPr>
            <p:ph type="title"/>
          </p:nvPr>
        </p:nvSpPr>
        <p:spPr>
          <a:xfrm>
            <a:off x="1630494" y="787758"/>
            <a:ext cx="8577617" cy="316081"/>
          </a:xfrm>
        </p:spPr>
        <p:txBody>
          <a:bodyPr/>
          <a:lstStyle/>
          <a:p>
            <a:pPr algn="ctr"/>
            <a:r>
              <a:rPr lang="en-US" sz="2800" dirty="0">
                <a:solidFill>
                  <a:srgbClr val="FF0000"/>
                </a:solidFill>
                <a:latin typeface="Georgia"/>
                <a:cs typeface="Times New Roman"/>
              </a:rPr>
              <a:t>References</a:t>
            </a:r>
          </a:p>
        </p:txBody>
      </p:sp>
      <p:sp>
        <p:nvSpPr>
          <p:cNvPr id="4" name="Slide Number Placeholder 3">
            <a:extLst>
              <a:ext uri="{FF2B5EF4-FFF2-40B4-BE49-F238E27FC236}">
                <a16:creationId xmlns:a16="http://schemas.microsoft.com/office/drawing/2014/main" id="{911B6434-5177-C5FD-944B-F932F86008C1}"/>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26</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F663358D-3DA4-0AA3-F2AE-411D744E7493}"/>
              </a:ext>
            </a:extLst>
          </p:cNvPr>
          <p:cNvSpPr txBox="1"/>
          <p:nvPr/>
        </p:nvSpPr>
        <p:spPr>
          <a:xfrm>
            <a:off x="268805" y="1107648"/>
            <a:ext cx="11640573"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[1] B. </a:t>
            </a:r>
            <a:r>
              <a:rPr lang="en-US" sz="2000" err="1"/>
              <a:t>Prabadevi</a:t>
            </a:r>
            <a:r>
              <a:rPr lang="en-US" sz="2000"/>
              <a:t>, R. Shalini, and B. Kavitha, “Customer churning analysis using</a:t>
            </a:r>
            <a:endParaRPr lang="en-US"/>
          </a:p>
          <a:p>
            <a:r>
              <a:rPr lang="en-US" sz="2000"/>
              <a:t>machine learning algorithms,” International Journal of Intelligent Networks, vol. 4,</a:t>
            </a:r>
            <a:endParaRPr lang="en-US"/>
          </a:p>
          <a:p>
            <a:r>
              <a:rPr lang="en-US" sz="2000" dirty="0"/>
              <a:t>pp. 145–154, 2023. [Online]. Available: </a:t>
            </a:r>
            <a:r>
              <a:rPr lang="en-US" sz="2000" dirty="0">
                <a:hlinkClick r:id="rId3"/>
              </a:rPr>
              <a:t>https://www.sciencedirect.com/science/</a:t>
            </a:r>
            <a:endParaRPr lang="en-US"/>
          </a:p>
          <a:p>
            <a:r>
              <a:rPr lang="en-US" sz="2000" dirty="0"/>
              <a:t>article/</a:t>
            </a:r>
            <a:r>
              <a:rPr lang="en-US" sz="2000" dirty="0" err="1"/>
              <a:t>pii</a:t>
            </a:r>
            <a:r>
              <a:rPr lang="en-US" sz="2000" dirty="0"/>
              <a:t>/S2666603023000143</a:t>
            </a:r>
            <a:endParaRPr lang="en-US" dirty="0"/>
          </a:p>
          <a:p>
            <a:r>
              <a:rPr lang="en-US" sz="2000" dirty="0"/>
              <a:t>[2] A. Bhatnagar and S. Srivastava, “Customer churn prediction: A machine</a:t>
            </a:r>
            <a:endParaRPr lang="en-US" dirty="0"/>
          </a:p>
          <a:p>
            <a:r>
              <a:rPr lang="en-US" sz="2000" dirty="0"/>
              <a:t>learning approach with data balancing for telecom industry,” International</a:t>
            </a:r>
            <a:endParaRPr lang="en-US" dirty="0"/>
          </a:p>
          <a:p>
            <a:r>
              <a:rPr lang="en-US" sz="2000" dirty="0"/>
              <a:t>Journal of Computing, vol. 24, no. 1, pp. 9–18, Mar. 2025. [Online]. Available:</a:t>
            </a:r>
            <a:endParaRPr lang="en-US" dirty="0"/>
          </a:p>
          <a:p>
            <a:r>
              <a:rPr lang="en-US" sz="2000" dirty="0">
                <a:hlinkClick r:id="rId4"/>
              </a:rPr>
              <a:t>https://computingonline.net/computing/article/view/3873</a:t>
            </a:r>
            <a:endParaRPr lang="en-US"/>
          </a:p>
          <a:p>
            <a:r>
              <a:rPr lang="en-US" sz="2000" dirty="0"/>
              <a:t>[3] A. Manzoor, M. Atif Qureshi, E. Kidney, and L. Longo, “A review on machine learning</a:t>
            </a:r>
            <a:endParaRPr lang="en-US" dirty="0"/>
          </a:p>
          <a:p>
            <a:r>
              <a:rPr lang="en-US" sz="2000" dirty="0"/>
              <a:t>methods for customer churn prediction and recommendations for business </a:t>
            </a:r>
            <a:r>
              <a:rPr lang="en-US" sz="2000" dirty="0" err="1"/>
              <a:t>practition</a:t>
            </a:r>
            <a:r>
              <a:rPr lang="en-US" sz="2000" dirty="0"/>
              <a:t>-</a:t>
            </a:r>
            <a:endParaRPr lang="en-US" dirty="0"/>
          </a:p>
          <a:p>
            <a:r>
              <a:rPr lang="en-US" sz="2000" dirty="0" err="1"/>
              <a:t>ers</a:t>
            </a:r>
            <a:r>
              <a:rPr lang="en-US" sz="2000" dirty="0"/>
              <a:t>,” IEEE Access, vol. 12, pp. 70 434–70 463, 2024.</a:t>
            </a:r>
            <a:endParaRPr lang="en-US" dirty="0"/>
          </a:p>
          <a:p>
            <a:r>
              <a:rPr lang="en-US" sz="2000" dirty="0"/>
              <a:t>[4] J. Y. Park, Y. T. </a:t>
            </a:r>
            <a:r>
              <a:rPr lang="en-US" sz="2000" dirty="0" err="1"/>
              <a:t>Prasetyo</a:t>
            </a:r>
            <a:r>
              <a:rPr lang="en-US" sz="2000" dirty="0"/>
              <a:t>, M. M. L. </a:t>
            </a:r>
            <a:r>
              <a:rPr lang="en-US" sz="2000" dirty="0" err="1"/>
              <a:t>Cahigas</a:t>
            </a:r>
            <a:r>
              <a:rPr lang="en-US" sz="2000" dirty="0"/>
              <a:t>, and R. </a:t>
            </a:r>
            <a:r>
              <a:rPr lang="en-US" sz="2000" dirty="0" err="1"/>
              <a:t>Nadlifatin</a:t>
            </a:r>
            <a:r>
              <a:rPr lang="en-US" sz="2000" dirty="0"/>
              <a:t>, “A conjoint-based</a:t>
            </a:r>
            <a:endParaRPr lang="en-US" dirty="0"/>
          </a:p>
          <a:p>
            <a:r>
              <a:rPr lang="en-US" sz="2000" dirty="0"/>
              <a:t>approach on determining the factors affecting on preference of subscribing a </a:t>
            </a:r>
            <a:r>
              <a:rPr lang="en-US" sz="2000" dirty="0" err="1"/>
              <a:t>netflix</a:t>
            </a:r>
            <a:endParaRPr lang="en-US" dirty="0" err="1"/>
          </a:p>
          <a:p>
            <a:r>
              <a:rPr lang="en-US" sz="2000" dirty="0"/>
              <a:t>plan,” in 2024 IEEE International Conference on Industrial Engineering and Engi-</a:t>
            </a:r>
            <a:endParaRPr lang="en-US" dirty="0"/>
          </a:p>
          <a:p>
            <a:r>
              <a:rPr lang="en-US" sz="2000" dirty="0" err="1"/>
              <a:t>neering</a:t>
            </a:r>
            <a:r>
              <a:rPr lang="en-US" sz="2000" dirty="0"/>
              <a:t> Management (IEEM), 2024, pp. 918–921.</a:t>
            </a:r>
            <a:endParaRPr lang="en-US" dirty="0"/>
          </a:p>
          <a:p>
            <a:r>
              <a:rPr lang="en-US" sz="2000"/>
              <a:t>15</a:t>
            </a:r>
            <a:endParaRPr lang="en-US"/>
          </a:p>
        </p:txBody>
      </p:sp>
    </p:spTree>
    <p:extLst>
      <p:ext uri="{BB962C8B-B14F-4D97-AF65-F5344CB8AC3E}">
        <p14:creationId xmlns:p14="http://schemas.microsoft.com/office/powerpoint/2010/main" val="2053978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48D2E-4220-4C1C-185C-82218CD38A2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613527B-BFAF-F558-504B-8CEB88BD76E7}"/>
              </a:ext>
            </a:extLst>
          </p:cNvPr>
          <p:cNvSpPr>
            <a:spLocks noGrp="1"/>
          </p:cNvSpPr>
          <p:nvPr>
            <p:ph type="title"/>
          </p:nvPr>
        </p:nvSpPr>
        <p:spPr>
          <a:xfrm>
            <a:off x="1630494" y="787758"/>
            <a:ext cx="8577617" cy="316081"/>
          </a:xfrm>
        </p:spPr>
        <p:txBody>
          <a:bodyPr/>
          <a:lstStyle/>
          <a:p>
            <a:pPr algn="ctr"/>
            <a:r>
              <a:rPr lang="en-US" sz="2800" dirty="0">
                <a:solidFill>
                  <a:srgbClr val="FF0000"/>
                </a:solidFill>
                <a:latin typeface="Georgia"/>
                <a:cs typeface="Times New Roman"/>
              </a:rPr>
              <a:t>References</a:t>
            </a:r>
          </a:p>
        </p:txBody>
      </p:sp>
      <p:sp>
        <p:nvSpPr>
          <p:cNvPr id="4" name="Slide Number Placeholder 3">
            <a:extLst>
              <a:ext uri="{FF2B5EF4-FFF2-40B4-BE49-F238E27FC236}">
                <a16:creationId xmlns:a16="http://schemas.microsoft.com/office/drawing/2014/main" id="{DFB701A6-BB9A-8961-DB4E-8CECD0DC070A}"/>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27</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1ACC0CF9-75FA-08A5-9C86-A4534A2D1983}"/>
              </a:ext>
            </a:extLst>
          </p:cNvPr>
          <p:cNvSpPr txBox="1"/>
          <p:nvPr/>
        </p:nvSpPr>
        <p:spPr>
          <a:xfrm>
            <a:off x="121752" y="1161121"/>
            <a:ext cx="11640573"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[5] S. </a:t>
            </a:r>
            <a:r>
              <a:rPr lang="en-US" sz="2000" dirty="0" err="1"/>
              <a:t>Tanuwijaya</a:t>
            </a:r>
            <a:r>
              <a:rPr lang="en-US" sz="2000" dirty="0"/>
              <a:t>, A. </a:t>
            </a:r>
            <a:r>
              <a:rPr lang="en-US" sz="2000" dirty="0" err="1"/>
              <a:t>Alamsyah</a:t>
            </a:r>
            <a:r>
              <a:rPr lang="en-US" sz="2000" dirty="0"/>
              <a:t>, and M. </a:t>
            </a:r>
            <a:r>
              <a:rPr lang="en-US" sz="2000" dirty="0" err="1"/>
              <a:t>Ariyanti</a:t>
            </a:r>
            <a:r>
              <a:rPr lang="en-US" sz="2000" dirty="0"/>
              <a:t>, “Mobile customer </a:t>
            </a:r>
            <a:r>
              <a:rPr lang="en-US" sz="2000" dirty="0" err="1"/>
              <a:t>behaviour</a:t>
            </a:r>
            <a:r>
              <a:rPr lang="en-US" sz="2000" dirty="0"/>
              <a:t> predictive</a:t>
            </a:r>
          </a:p>
          <a:p>
            <a:r>
              <a:rPr lang="en-US" sz="2000" dirty="0"/>
              <a:t>analysis for targeting </a:t>
            </a:r>
            <a:r>
              <a:rPr lang="en-US" sz="2000" dirty="0" err="1"/>
              <a:t>netflix</a:t>
            </a:r>
            <a:r>
              <a:rPr lang="en-US" sz="2000" dirty="0"/>
              <a:t> potential customer,” in 2021 9th International Confer-</a:t>
            </a:r>
          </a:p>
          <a:p>
            <a:r>
              <a:rPr lang="en-US" sz="2000" dirty="0" err="1"/>
              <a:t>ence</a:t>
            </a:r>
            <a:r>
              <a:rPr lang="en-US" sz="2000" dirty="0"/>
              <a:t> on Information and Communication Technology (</a:t>
            </a:r>
            <a:r>
              <a:rPr lang="en-US" sz="2000" dirty="0" err="1"/>
              <a:t>ICoICT</a:t>
            </a:r>
            <a:r>
              <a:rPr lang="en-US" sz="2000" dirty="0"/>
              <a:t>), 2021, pp. 348–352.</a:t>
            </a:r>
          </a:p>
          <a:p>
            <a:r>
              <a:rPr lang="en-US" sz="2000" dirty="0"/>
              <a:t>[6] L. Butgereit, “Work towards using micro-services to build a data pipeline for machine</a:t>
            </a:r>
          </a:p>
          <a:p>
            <a:r>
              <a:rPr lang="en-US" sz="2000" dirty="0"/>
              <a:t>learning applications: A case study in predicting customer churn,” in 2020 Interna-</a:t>
            </a:r>
          </a:p>
          <a:p>
            <a:r>
              <a:rPr lang="en-US" sz="2000" dirty="0" err="1"/>
              <a:t>tional</a:t>
            </a:r>
            <a:r>
              <a:rPr lang="en-US" sz="2000" dirty="0"/>
              <a:t> Conference on Innovative Trends in Communication and Computer Engineering</a:t>
            </a:r>
          </a:p>
          <a:p>
            <a:r>
              <a:rPr lang="en-US" sz="2000" dirty="0"/>
              <a:t>(ITCE), 2020, pp. 87–91.</a:t>
            </a:r>
          </a:p>
          <a:p>
            <a:r>
              <a:rPr lang="en-US" sz="2000" dirty="0"/>
              <a:t>[7] O. Rezaeian, S. S. Haghighi, and J. </a:t>
            </a:r>
            <a:r>
              <a:rPr lang="en-US" sz="2000" dirty="0" err="1"/>
              <a:t>Shahrabi</a:t>
            </a:r>
            <a:r>
              <a:rPr lang="en-US" sz="2000" dirty="0"/>
              <a:t>, “Customer churn prediction using data</a:t>
            </a:r>
          </a:p>
          <a:p>
            <a:r>
              <a:rPr lang="en-US" sz="2000" dirty="0"/>
              <a:t>mining techniques for an </a:t>
            </a:r>
            <a:r>
              <a:rPr lang="en-US" sz="2000" dirty="0" err="1"/>
              <a:t>iranian</a:t>
            </a:r>
            <a:r>
              <a:rPr lang="en-US" sz="2000" dirty="0"/>
              <a:t> payment application,” in 2021 12th International</a:t>
            </a:r>
          </a:p>
          <a:p>
            <a:r>
              <a:rPr lang="en-US" sz="2000" dirty="0"/>
              <a:t>Conference on Information and Knowledge Technology (IKT), 2021, pp. 134–138.</a:t>
            </a:r>
          </a:p>
          <a:p>
            <a:r>
              <a:rPr lang="en-US" sz="2000" dirty="0"/>
              <a:t>[8] L. Ou, “Customer churn prediction based on interpretable machine learning algo-</a:t>
            </a:r>
          </a:p>
          <a:p>
            <a:r>
              <a:rPr lang="en-US" sz="2000" dirty="0" err="1"/>
              <a:t>rithms</a:t>
            </a:r>
            <a:r>
              <a:rPr lang="en-US" sz="2000" dirty="0"/>
              <a:t> in telecom industry,” in 2023 International Conference on Computer Simula-</a:t>
            </a:r>
          </a:p>
          <a:p>
            <a:r>
              <a:rPr lang="en-US" sz="2000" dirty="0" err="1"/>
              <a:t>tion</a:t>
            </a:r>
            <a:r>
              <a:rPr lang="en-US" sz="2000" dirty="0"/>
              <a:t> and Modeling, Information Security (CSMIS), 2023, pp. 644–647.</a:t>
            </a:r>
          </a:p>
          <a:p>
            <a:r>
              <a:rPr lang="en-US" sz="2000" dirty="0"/>
              <a:t>[9] </a:t>
            </a:r>
            <a:r>
              <a:rPr lang="en-US" sz="2000" dirty="0" err="1"/>
              <a:t>Asniar</a:t>
            </a:r>
            <a:r>
              <a:rPr lang="en-US" sz="2000" dirty="0"/>
              <a:t> and K. </a:t>
            </a:r>
            <a:r>
              <a:rPr lang="en-US" sz="2000" dirty="0" err="1"/>
              <a:t>Surendro</a:t>
            </a:r>
            <a:r>
              <a:rPr lang="en-US" sz="2000" dirty="0"/>
              <a:t>, “Predictive analytics for predicting customer behavior,” in</a:t>
            </a:r>
          </a:p>
          <a:p>
            <a:r>
              <a:rPr lang="en-US" sz="2000" dirty="0"/>
              <a:t>2019 International Conference of Artificial Intelligence and Information Technology</a:t>
            </a:r>
          </a:p>
          <a:p>
            <a:r>
              <a:rPr lang="en-US" sz="2000" dirty="0"/>
              <a:t>(ICAIIT), 2019, pp. 230–233</a:t>
            </a:r>
          </a:p>
          <a:p>
            <a:endParaRPr lang="en-US" sz="2000" dirty="0"/>
          </a:p>
        </p:txBody>
      </p:sp>
    </p:spTree>
    <p:extLst>
      <p:ext uri="{BB962C8B-B14F-4D97-AF65-F5344CB8AC3E}">
        <p14:creationId xmlns:p14="http://schemas.microsoft.com/office/powerpoint/2010/main" val="11334126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6616C1-5C31-73EF-C6D8-3D293F21043E}"/>
              </a:ext>
            </a:extLst>
          </p:cNvPr>
          <p:cNvSpPr>
            <a:spLocks noGrp="1"/>
          </p:cNvSpPr>
          <p:nvPr>
            <p:ph type="sldNum" sz="quarter" idx="2"/>
          </p:nvPr>
        </p:nvSpPr>
        <p:spPr/>
        <p:txBody>
          <a:bodyPr/>
          <a:lstStyle/>
          <a:p>
            <a:fld id="{86CB4B4D-7CA3-9044-876B-883B54F8677D}" type="slidenum">
              <a:rPr lang="en-IN" smtClean="0"/>
              <a:t>28</a:t>
            </a:fld>
            <a:endParaRPr lang="en-IN"/>
          </a:p>
        </p:txBody>
      </p:sp>
      <p:sp>
        <p:nvSpPr>
          <p:cNvPr id="3" name="Title 2">
            <a:extLst>
              <a:ext uri="{FF2B5EF4-FFF2-40B4-BE49-F238E27FC236}">
                <a16:creationId xmlns:a16="http://schemas.microsoft.com/office/drawing/2014/main" id="{2B667EDC-3EA5-C3DB-B0B4-74241483777B}"/>
              </a:ext>
            </a:extLst>
          </p:cNvPr>
          <p:cNvSpPr>
            <a:spLocks noGrp="1"/>
          </p:cNvSpPr>
          <p:nvPr>
            <p:ph type="title"/>
          </p:nvPr>
        </p:nvSpPr>
        <p:spPr>
          <a:xfrm>
            <a:off x="1121979" y="2398881"/>
            <a:ext cx="10515600" cy="1325563"/>
          </a:xfrm>
        </p:spPr>
        <p:txBody>
          <a:bodyPr>
            <a:normAutofit/>
          </a:bodyPr>
          <a:lstStyle/>
          <a:p>
            <a:r>
              <a:rPr lang="en-US" sz="6600"/>
              <a:t>          THANK YOU</a:t>
            </a:r>
            <a:endParaRPr lang="en-IN" sz="6600"/>
          </a:p>
        </p:txBody>
      </p:sp>
    </p:spTree>
    <p:extLst>
      <p:ext uri="{BB962C8B-B14F-4D97-AF65-F5344CB8AC3E}">
        <p14:creationId xmlns:p14="http://schemas.microsoft.com/office/powerpoint/2010/main" val="1390547548"/>
      </p:ext>
    </p:extLst>
  </p:cSld>
  <p:clrMapOvr>
    <a:masterClrMapping/>
  </p:clrMapOvr>
  <p:transition spd="med"/>
</p:sld>
</file>

<file path=ppt/theme/theme1.xml><?xml version="1.0" encoding="utf-8"?>
<a:theme xmlns:a="http://schemas.openxmlformats.org/drawingml/2006/main" name="NAAC PRT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AC PRT Template [Compatibility Mode]" id="{A3D2B74B-B15B-466F-9768-BD91F499C34C}" vid="{0E57DE27-252B-4995-BE16-123377BD3E9E}"/>
    </a:ext>
  </a:extLst>
</a:theme>
</file>

<file path=ppt/theme/theme2.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0</TotalTime>
  <Words>1743</Words>
  <Application>Microsoft Office PowerPoint</Application>
  <PresentationFormat>Widescreen</PresentationFormat>
  <Paragraphs>195</Paragraphs>
  <Slides>28</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Consolas</vt:lpstr>
      <vt:lpstr>Georgia</vt:lpstr>
      <vt:lpstr>Times New Roman</vt:lpstr>
      <vt:lpstr>NAAC PRT Template</vt:lpstr>
      <vt:lpstr>Introduction</vt:lpstr>
      <vt:lpstr>Problem Statement</vt:lpstr>
      <vt:lpstr>Objectives</vt:lpstr>
      <vt:lpstr>Design</vt:lpstr>
      <vt:lpstr>Modules</vt:lpstr>
      <vt:lpstr>Modules</vt:lpstr>
      <vt:lpstr>Modules</vt:lpstr>
      <vt:lpstr>Implementation Details</vt:lpstr>
      <vt:lpstr>Implementation Details</vt:lpstr>
      <vt:lpstr>Methodology</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Conclusion and Future scope</vt:lpstr>
      <vt:lpstr>References</vt:lpstr>
      <vt:lpstr>References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Speech Emotion Detection System</dc:title>
  <dc:creator>sundar rathinavel</dc:creator>
  <cp:lastModifiedBy>PEKETI TAPAN DATTA-[BL.EN.U4CSE22244]</cp:lastModifiedBy>
  <cp:revision>20</cp:revision>
  <dcterms:modified xsi:type="dcterms:W3CDTF">2025-12-05T11:04:02Z</dcterms:modified>
</cp:coreProperties>
</file>